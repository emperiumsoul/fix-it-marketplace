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365760"/>
          </a:xfrm>
          <a:prstGeom prst="rect">
            <a:avLst/>
          </a:prstGeom>
          <a:noFill/>
        </p:spPr>
        <p:txBody>
          <a:bodyPr wrap="none">
            <a:spAutoFit/>
          </a:bodyPr>
          <a:lstStyle/>
          <a:p>
            <a:r>
              <a:rPr sz="1200" b="1">
                <a:solidFill>
                  <a:srgbClr val="059669"/>
                </a:solidFill>
                <a:latin typeface="Segoe UI"/>
              </a:rPr>
              <a:t>DEPARTMENT OF COMPUTER SCIENCE | KNUST - KUMASI, GHANA</a:t>
            </a:r>
          </a:p>
        </p:txBody>
      </p:sp>
      <p:sp>
        <p:nvSpPr>
          <p:cNvPr id="4" name="TextBox 3"/>
          <p:cNvSpPr txBox="1"/>
          <p:nvPr/>
        </p:nvSpPr>
        <p:spPr>
          <a:xfrm>
            <a:off x="914400" y="1188720"/>
            <a:ext cx="10362895" cy="2011680"/>
          </a:xfrm>
          <a:prstGeom prst="rect">
            <a:avLst/>
          </a:prstGeom>
          <a:noFill/>
        </p:spPr>
        <p:txBody>
          <a:bodyPr wrap="square">
            <a:spAutoFit/>
          </a:bodyPr>
          <a:lstStyle/>
          <a:p>
            <a:r>
              <a:rPr sz="3000" b="1">
                <a:solidFill>
                  <a:srgbClr val="FFFFFF"/>
                </a:solidFill>
                <a:latin typeface="Segoe UI"/>
              </a:rPr>
              <a:t>DEVELOPMENT OF A TRUST-DRIVEN LOCAL ON-DEMAND ARTISAN AND SERVICE MARKETPLACE FOR GHANA
(FIX IT MARKETPLACE)</a:t>
            </a:r>
          </a:p>
        </p:txBody>
      </p:sp>
      <p:sp>
        <p:nvSpPr>
          <p:cNvPr id="5" name="TextBox 4"/>
          <p:cNvSpPr txBox="1"/>
          <p:nvPr/>
        </p:nvSpPr>
        <p:spPr>
          <a:xfrm>
            <a:off x="914400" y="3566160"/>
            <a:ext cx="10362895" cy="548640"/>
          </a:xfrm>
          <a:prstGeom prst="rect">
            <a:avLst/>
          </a:prstGeom>
          <a:noFill/>
        </p:spPr>
        <p:txBody>
          <a:bodyPr wrap="none">
            <a:spAutoFit/>
          </a:bodyPr>
          <a:lstStyle/>
          <a:p>
            <a:r>
              <a:rPr sz="1600">
                <a:solidFill>
                  <a:srgbClr val="C7D2FE"/>
                </a:solidFill>
                <a:latin typeface="Segoe UI"/>
              </a:rPr>
              <a:t>A Thesis Defense Submitted in Partial Fulfilment of the Requirements for BSc. Computer Science</a:t>
            </a:r>
          </a:p>
        </p:txBody>
      </p:sp>
      <p:sp>
        <p:nvSpPr>
          <p:cNvPr id="6" name="Rounded Rectangle 5"/>
          <p:cNvSpPr/>
          <p:nvPr/>
        </p:nvSpPr>
        <p:spPr>
          <a:xfrm>
            <a:off x="914400" y="4389120"/>
            <a:ext cx="10362895" cy="17373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572000"/>
            <a:ext cx="9784080" cy="1371600"/>
          </a:xfrm>
          <a:prstGeom prst="rect">
            <a:avLst/>
          </a:prstGeom>
          <a:noFill/>
        </p:spPr>
        <p:txBody>
          <a:bodyPr wrap="none">
            <a:spAutoFit/>
          </a:bodyPr>
          <a:lstStyle/>
          <a:p>
            <a:r>
              <a:rPr sz="1500" b="1">
                <a:solidFill>
                  <a:srgbClr val="FFFFFF"/>
                </a:solidFill>
                <a:latin typeface="Segoe UI"/>
              </a:rPr>
              <a:t>Candidate: Emmanuel Opoku Nyame  (Index No: 20220912)
</a:t>
            </a:r>
            <a:r>
              <a:rPr sz="1300">
                <a:solidFill>
                  <a:srgbClr val="94A3B8"/>
                </a:solidFill>
                <a:latin typeface="Segoe UI"/>
              </a:rPr>
              <a:t>Supervisor: Dr. K. A. Boateng
Head of Department: Prof. J. K. Panford
Date of Presentation: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THESIS ORGANIZATION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Presentation Structure (Aligned to Departmental Layout)</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728655"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54480"/>
            <a:ext cx="10149840" cy="685800"/>
          </a:xfrm>
          <a:prstGeom prst="rect">
            <a:avLst/>
          </a:prstGeom>
          <a:noFill/>
        </p:spPr>
        <p:txBody>
          <a:bodyPr wrap="square">
            <a:spAutoFit/>
          </a:bodyPr>
          <a:lstStyle/>
          <a:p>
            <a:r>
              <a:rPr b="1" sz="1350">
                <a:solidFill>
                  <a:srgbClr val="4F46E5"/>
                </a:solidFill>
              </a:rPr>
              <a:t>CHAPTER I: INTRODUCTION
</a:t>
            </a:r>
            <a:r>
              <a:rPr sz="1100">
                <a:solidFill>
                  <a:srgbClr val="1E293B"/>
                </a:solidFill>
              </a:rPr>
              <a:t>1.1 Introduction | 1.2 Objectives of the Study | 1.3 Research Problem Statement | 1.4 Scope of Work | 1.5 Thesis Outline</a:t>
            </a:r>
          </a:p>
        </p:txBody>
      </p:sp>
      <p:sp>
        <p:nvSpPr>
          <p:cNvPr id="7" name="Rounded Rectangle 6"/>
          <p:cNvSpPr/>
          <p:nvPr/>
        </p:nvSpPr>
        <p:spPr>
          <a:xfrm>
            <a:off x="731520" y="2423160"/>
            <a:ext cx="10728655"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14600"/>
            <a:ext cx="10149840" cy="685800"/>
          </a:xfrm>
          <a:prstGeom prst="rect">
            <a:avLst/>
          </a:prstGeom>
          <a:noFill/>
        </p:spPr>
        <p:txBody>
          <a:bodyPr wrap="square">
            <a:spAutoFit/>
          </a:bodyPr>
          <a:lstStyle/>
          <a:p>
            <a:r>
              <a:rPr b="1" sz="1350">
                <a:solidFill>
                  <a:srgbClr val="4F46E5"/>
                </a:solidFill>
              </a:rPr>
              <a:t>CHAPTER II: LITERATURE REVIEW
</a:t>
            </a:r>
            <a:r>
              <a:rPr sz="1100">
                <a:solidFill>
                  <a:srgbClr val="1E293B"/>
                </a:solidFill>
              </a:rPr>
              <a:t>2.1 Details of Relevant Theory | 2.2 Review of Past/Reported Work | 2.3 Brief Introduction of the Proposed Work/Solution</a:t>
            </a:r>
          </a:p>
        </p:txBody>
      </p:sp>
      <p:sp>
        <p:nvSpPr>
          <p:cNvPr id="9" name="Rounded Rectangle 8"/>
          <p:cNvSpPr/>
          <p:nvPr/>
        </p:nvSpPr>
        <p:spPr>
          <a:xfrm>
            <a:off x="731520" y="3383280"/>
            <a:ext cx="10728655"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474720"/>
            <a:ext cx="10149840" cy="685800"/>
          </a:xfrm>
          <a:prstGeom prst="rect">
            <a:avLst/>
          </a:prstGeom>
          <a:noFill/>
        </p:spPr>
        <p:txBody>
          <a:bodyPr wrap="square">
            <a:spAutoFit/>
          </a:bodyPr>
          <a:lstStyle/>
          <a:p>
            <a:r>
              <a:rPr b="1" sz="1350">
                <a:solidFill>
                  <a:srgbClr val="4F46E5"/>
                </a:solidFill>
              </a:rPr>
              <a:t>CHAPTER III: SYSTEM DESIGN
</a:t>
            </a:r>
            <a:r>
              <a:rPr sz="1100">
                <a:solidFill>
                  <a:srgbClr val="1E293B"/>
                </a:solidFill>
              </a:rPr>
              <a:t>3.1 Concept | 3.2 Block Diagram &amp; Description | 3.3 Module Design Concept of Each Block | 3.4 Full System Architecture Diagram</a:t>
            </a:r>
          </a:p>
        </p:txBody>
      </p:sp>
      <p:sp>
        <p:nvSpPr>
          <p:cNvPr id="11" name="Rounded Rectangle 10"/>
          <p:cNvSpPr/>
          <p:nvPr/>
        </p:nvSpPr>
        <p:spPr>
          <a:xfrm>
            <a:off x="731520" y="4343400"/>
            <a:ext cx="10728655"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34840"/>
            <a:ext cx="10149840" cy="685800"/>
          </a:xfrm>
          <a:prstGeom prst="rect">
            <a:avLst/>
          </a:prstGeom>
          <a:noFill/>
        </p:spPr>
        <p:txBody>
          <a:bodyPr wrap="square">
            <a:spAutoFit/>
          </a:bodyPr>
          <a:lstStyle/>
          <a:p>
            <a:r>
              <a:rPr b="1" sz="1350">
                <a:solidFill>
                  <a:srgbClr val="4F46E5"/>
                </a:solidFill>
              </a:rPr>
              <a:t>CHAPTER IV: ANALYSIS &amp; DISCUSSIONS / CONSTRUCTION &amp; TESTING
</a:t>
            </a:r>
            <a:r>
              <a:rPr sz="1100">
                <a:solidFill>
                  <a:srgbClr val="1E293B"/>
                </a:solidFill>
              </a:rPr>
              <a:t>4.1 System Construction &amp; Live Demonstration | 4.2 Multi-Stage Testing &amp; Verification | 4.3 Security &amp; Quality Assurance</a:t>
            </a:r>
          </a:p>
        </p:txBody>
      </p:sp>
      <p:sp>
        <p:nvSpPr>
          <p:cNvPr id="13" name="Rounded Rectangle 12"/>
          <p:cNvSpPr/>
          <p:nvPr/>
        </p:nvSpPr>
        <p:spPr>
          <a:xfrm>
            <a:off x="731520" y="5303520"/>
            <a:ext cx="10728655"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394960"/>
            <a:ext cx="10149840" cy="685800"/>
          </a:xfrm>
          <a:prstGeom prst="rect">
            <a:avLst/>
          </a:prstGeom>
          <a:noFill/>
        </p:spPr>
        <p:txBody>
          <a:bodyPr wrap="square">
            <a:spAutoFit/>
          </a:bodyPr>
          <a:lstStyle/>
          <a:p>
            <a:r>
              <a:rPr b="1" sz="1350">
                <a:solidFill>
                  <a:srgbClr val="4F46E5"/>
                </a:solidFill>
              </a:rPr>
              <a:t>CHAPTER V: CONCLUSION &amp; RECOMMENDATION
</a:t>
            </a:r>
            <a:r>
              <a:rPr sz="1100">
                <a:solidFill>
                  <a:srgbClr val="1E293B"/>
                </a:solidFill>
              </a:rPr>
              <a:t>5.1 Summary of Main Research Findings &amp; Results | 5.2 Directions for Future Research &amp; Enhancements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 INTRODUCTION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1.1 Introduction: Informal Artisan Realities in Ghana</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34747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3108960" cy="1645920"/>
          </a:xfrm>
          <a:prstGeom prst="rect">
            <a:avLst/>
          </a:prstGeom>
          <a:noFill/>
        </p:spPr>
        <p:txBody>
          <a:bodyPr wrap="square">
            <a:spAutoFit/>
          </a:bodyPr>
          <a:lstStyle/>
          <a:p>
            <a:r>
              <a:rPr sz="3200" b="1">
                <a:solidFill>
                  <a:srgbClr val="4F46E5"/>
                </a:solidFill>
              </a:rPr>
              <a:t>&gt;72%
</a:t>
            </a:r>
            <a:r>
              <a:rPr sz="1350" b="1">
                <a:solidFill>
                  <a:srgbClr val="0F172A"/>
                </a:solidFill>
              </a:rPr>
              <a:t>Informal Workforce
</a:t>
            </a:r>
            <a:r>
              <a:rPr sz="1100">
                <a:solidFill>
                  <a:srgbClr val="64748B"/>
                </a:solidFill>
              </a:rPr>
              <a:t>Ghana Statistical Service reports that informal labor constitutes &gt;72% of the non-agricultural economy, primarily in manual and domestic trades.</a:t>
            </a:r>
          </a:p>
        </p:txBody>
      </p:sp>
      <p:sp>
        <p:nvSpPr>
          <p:cNvPr id="7" name="Rounded Rectangle 6"/>
          <p:cNvSpPr/>
          <p:nvPr/>
        </p:nvSpPr>
        <p:spPr>
          <a:xfrm>
            <a:off x="4343400" y="1463040"/>
            <a:ext cx="34747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645920"/>
            <a:ext cx="3108960" cy="1645920"/>
          </a:xfrm>
          <a:prstGeom prst="rect">
            <a:avLst/>
          </a:prstGeom>
          <a:noFill/>
        </p:spPr>
        <p:txBody>
          <a:bodyPr wrap="square">
            <a:spAutoFit/>
          </a:bodyPr>
          <a:lstStyle/>
          <a:p>
            <a:r>
              <a:rPr sz="3200" b="1">
                <a:solidFill>
                  <a:srgbClr val="059669"/>
                </a:solidFill>
              </a:rPr>
              <a:t>Word of Mouth
</a:t>
            </a:r>
            <a:r>
              <a:rPr sz="1350" b="1">
                <a:solidFill>
                  <a:srgbClr val="0F172A"/>
                </a:solidFill>
              </a:rPr>
              <a:t>Conventional Discovery
</a:t>
            </a:r>
            <a:r>
              <a:rPr sz="1100">
                <a:solidFill>
                  <a:srgbClr val="64748B"/>
                </a:solidFill>
              </a:rPr>
              <a:t>Homeowners depend on erratic referrals from neighbors and estate caretakers, lacking transparent accreditation or pricing baselines.</a:t>
            </a:r>
          </a:p>
        </p:txBody>
      </p:sp>
      <p:sp>
        <p:nvSpPr>
          <p:cNvPr id="9" name="Rounded Rectangle 8"/>
          <p:cNvSpPr/>
          <p:nvPr/>
        </p:nvSpPr>
        <p:spPr>
          <a:xfrm>
            <a:off x="7955280" y="1463040"/>
            <a:ext cx="34747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645920"/>
            <a:ext cx="3108960" cy="1645920"/>
          </a:xfrm>
          <a:prstGeom prst="rect">
            <a:avLst/>
          </a:prstGeom>
          <a:noFill/>
        </p:spPr>
        <p:txBody>
          <a:bodyPr wrap="square">
            <a:spAutoFit/>
          </a:bodyPr>
          <a:lstStyle/>
          <a:p>
            <a:r>
              <a:rPr sz="3200" b="1">
                <a:solidFill>
                  <a:srgbClr val="4F46E5"/>
                </a:solidFill>
              </a:rPr>
              <a:t>&gt;130%
</a:t>
            </a:r>
            <a:r>
              <a:rPr sz="1350" b="1">
                <a:solidFill>
                  <a:srgbClr val="0F172A"/>
                </a:solidFill>
              </a:rPr>
              <a:t>Mobile Penetration
</a:t>
            </a:r>
            <a:r>
              <a:rPr sz="1100">
                <a:solidFill>
                  <a:srgbClr val="64748B"/>
                </a:solidFill>
              </a:rPr>
              <a:t>Over 31M mobile subscriptions and ubiquitous WhatsApp adoption offer an ideal technological foundation for digital service formalization.</a:t>
            </a:r>
          </a:p>
        </p:txBody>
      </p:sp>
      <p:sp>
        <p:nvSpPr>
          <p:cNvPr id="11" name="Rounded Rectangle 10"/>
          <p:cNvSpPr/>
          <p:nvPr/>
        </p:nvSpPr>
        <p:spPr>
          <a:xfrm>
            <a:off x="731520" y="3749039"/>
            <a:ext cx="10728655"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931920"/>
            <a:ext cx="10149840" cy="2103120"/>
          </a:xfrm>
          <a:prstGeom prst="rect">
            <a:avLst/>
          </a:prstGeom>
          <a:noFill/>
        </p:spPr>
        <p:txBody>
          <a:bodyPr wrap="square">
            <a:spAutoFit/>
          </a:bodyPr>
          <a:lstStyle/>
          <a:p>
            <a:r>
              <a:rPr b="1" sz="1500">
                <a:solidFill>
                  <a:srgbClr val="0F172A"/>
                </a:solidFill>
              </a:rPr>
              <a:t>The Socio-Technical Context &amp; Opportunity
</a:t>
            </a:r>
          </a:p>
          <a:p>
            <a:pPr>
              <a:spcBef>
                <a:spcPts val="400"/>
              </a:spcBef>
            </a:pPr>
            <a:r>
              <a:rPr sz="1200">
                <a:solidFill>
                  <a:srgbClr val="1E293B"/>
                </a:solidFill>
              </a:rPr>
              <a:t>•  Trades such as plumbing, electrical repairs, appliance servicing, masonry, and painting are essential to Ghanaian urban infrastructure.</a:t>
            </a:r>
          </a:p>
          <a:p>
            <a:pPr>
              <a:spcBef>
                <a:spcPts val="400"/>
              </a:spcBef>
            </a:pPr>
            <a:r>
              <a:rPr sz="1200">
                <a:solidFill>
                  <a:srgbClr val="1E293B"/>
                </a:solidFill>
              </a:rPr>
              <a:t>•  Artisans possess strong vocational trade mastery through traditional apprenticeships but lack institutional signaling, digital portfolios, and credit history.</a:t>
            </a:r>
          </a:p>
          <a:p>
            <a:pPr>
              <a:spcBef>
                <a:spcPts val="400"/>
              </a:spcBef>
            </a:pPr>
            <a:r>
              <a:rPr sz="1200">
                <a:solidFill>
                  <a:srgbClr val="1E293B"/>
                </a:solidFill>
              </a:rPr>
              <a:t>•  Consumers bear massive friction: arbitrary price haggling, non-refundable cash deposits, safety anxiety, and abandoned projects.</a:t>
            </a:r>
          </a:p>
          <a:p>
            <a:pPr>
              <a:spcBef>
                <a:spcPts val="400"/>
              </a:spcBef>
            </a:pPr>
            <a:r>
              <a:rPr sz="1200">
                <a:solidFill>
                  <a:srgbClr val="1E293B"/>
                </a:solidFill>
              </a:rPr>
              <a:t>•  Fix It Marketplace bridges this structural chasm through high-performance web architecture, verified profiles, and WhatsApp integration.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 INTRODUCTION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1.2 Objectives of the Study: General &amp; Specific Goals</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4114800" cy="48463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3566160" cy="4114800"/>
          </a:xfrm>
          <a:prstGeom prst="rect">
            <a:avLst/>
          </a:prstGeom>
          <a:noFill/>
        </p:spPr>
        <p:txBody>
          <a:bodyPr wrap="square">
            <a:spAutoFit/>
          </a:bodyPr>
          <a:lstStyle/>
          <a:p>
            <a:r>
              <a:rPr b="1" sz="1800">
                <a:solidFill>
                  <a:srgbClr val="059669"/>
                </a:solidFill>
              </a:rPr>
              <a:t>GENERAL OBJECTIVE
</a:t>
            </a:r>
            <a:r>
              <a:rPr sz="1300">
                <a:solidFill>
                  <a:srgbClr val="FFFFFF"/>
                </a:solidFill>
              </a:rPr>
              <a:t>To design, construct, and empirically evaluate a cloud-native, on-demand artisan and domestic service marketplace tailored to the socio-technical dynamics of Ghana, eliminating transaction friction, establishing mutual trust, and ensuring predictable, transparent service delivery.</a:t>
            </a:r>
          </a:p>
        </p:txBody>
      </p:sp>
      <p:sp>
        <p:nvSpPr>
          <p:cNvPr id="7" name="Rounded Rectangle 6"/>
          <p:cNvSpPr/>
          <p:nvPr/>
        </p:nvSpPr>
        <p:spPr>
          <a:xfrm>
            <a:off x="5120640" y="1463040"/>
            <a:ext cx="6339535"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0" y="1645920"/>
            <a:ext cx="5760720" cy="4480560"/>
          </a:xfrm>
          <a:prstGeom prst="rect">
            <a:avLst/>
          </a:prstGeom>
          <a:noFill/>
        </p:spPr>
        <p:txBody>
          <a:bodyPr wrap="square">
            <a:spAutoFit/>
          </a:bodyPr>
          <a:lstStyle/>
          <a:p>
            <a:r>
              <a:rPr b="1" sz="1600">
                <a:solidFill>
                  <a:srgbClr val="0F172A"/>
                </a:solidFill>
              </a:rPr>
              <a:t>Specific Technical Objectives
</a:t>
            </a:r>
          </a:p>
          <a:p>
            <a:pPr>
              <a:spcBef>
                <a:spcPts val="600"/>
              </a:spcBef>
            </a:pPr>
            <a:r>
              <a:rPr b="1" sz="1150">
                <a:solidFill>
                  <a:srgbClr val="4F46E5"/>
                </a:solidFill>
              </a:rPr>
              <a:t>1. Architecture Formulation: </a:t>
            </a:r>
            <a:r>
              <a:rPr sz="1100">
                <a:solidFill>
                  <a:srgbClr val="1E293B"/>
                </a:solidFill>
              </a:rPr>
              <a:t>Develop a reactive, decoupled architecture using Next.js 16 (App Router), TypeScript, and Tailwind CSS.</a:t>
            </a:r>
          </a:p>
          <a:p>
            <a:pPr>
              <a:spcBef>
                <a:spcPts val="600"/>
              </a:spcBef>
            </a:pPr>
            <a:r>
              <a:rPr b="1" sz="1150">
                <a:solidFill>
                  <a:srgbClr val="4F46E5"/>
                </a:solidFill>
              </a:rPr>
              <a:t>2. Dual-Role Security: </a:t>
            </a:r>
            <a:r>
              <a:rPr sz="1100">
                <a:solidFill>
                  <a:srgbClr val="1E293B"/>
                </a:solidFill>
              </a:rPr>
              <a:t>Implement Clerk authentication and authorization enforcing dynamic role separation between domestic customers and verified artisans.</a:t>
            </a:r>
          </a:p>
          <a:p>
            <a:pPr>
              <a:spcBef>
                <a:spcPts val="600"/>
              </a:spcBef>
            </a:pPr>
            <a:r>
              <a:rPr b="1" sz="1150">
                <a:solidFill>
                  <a:srgbClr val="4F46E5"/>
                </a:solidFill>
              </a:rPr>
              <a:t>3. Transparent Packaging: </a:t>
            </a:r>
            <a:r>
              <a:rPr sz="1100">
                <a:solidFill>
                  <a:srgbClr val="1E293B"/>
                </a:solidFill>
              </a:rPr>
              <a:t>Engineer a standardized 3-tier service scope matrix (Basic, Standard, Premium) priced in Ghana Cedis (GHS).</a:t>
            </a:r>
          </a:p>
          <a:p>
            <a:pPr>
              <a:spcBef>
                <a:spcPts val="600"/>
              </a:spcBef>
            </a:pPr>
            <a:r>
              <a:rPr b="1" sz="1150">
                <a:solidFill>
                  <a:srgbClr val="4F46E5"/>
                </a:solidFill>
              </a:rPr>
              <a:t>4. Hybrid Messaging Bridge: </a:t>
            </a:r>
            <a:r>
              <a:rPr sz="1100">
                <a:solidFill>
                  <a:srgbClr val="1E293B"/>
                </a:solidFill>
              </a:rPr>
              <a:t>Integrate centralized web booking scheduling with localized WhatsApp deep-links (+233) for real-time bilateral coordination.</a:t>
            </a:r>
          </a:p>
          <a:p>
            <a:pPr>
              <a:spcBef>
                <a:spcPts val="600"/>
              </a:spcBef>
            </a:pPr>
            <a:r>
              <a:rPr b="1" sz="1150">
                <a:solidFill>
                  <a:srgbClr val="4F46E5"/>
                </a:solidFill>
              </a:rPr>
              <a:t>5. Order Ledger State Machine: </a:t>
            </a:r>
            <a:r>
              <a:rPr sz="1100">
                <a:solidFill>
                  <a:srgbClr val="1E293B"/>
                </a:solidFill>
              </a:rPr>
              <a:t>Construct an active booking ledger supporting real-time status transitions and instant cancellation reconciliation.</a:t>
            </a:r>
          </a:p>
          <a:p>
            <a:pPr>
              <a:spcBef>
                <a:spcPts val="600"/>
              </a:spcBef>
            </a:pPr>
            <a:r>
              <a:rPr b="1" sz="1150">
                <a:solidFill>
                  <a:srgbClr val="4F46E5"/>
                </a:solidFill>
              </a:rPr>
              <a:t>6. Empirical Evaluation: </a:t>
            </a:r>
            <a:r>
              <a:rPr sz="1100">
                <a:solidFill>
                  <a:srgbClr val="1E293B"/>
                </a:solidFill>
              </a:rPr>
              <a:t>Perform Google Lighthouse audits and a formal System Usability Scale (SUS) evaluation with 30 target Ghanaian users.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 INTRODUCTION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1.3 Research Problem Statement: Conventional vs. Fix-It</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728655" cy="548640"/>
          </a:xfrm>
          <a:prstGeom prst="rect">
            <a:avLst/>
          </a:prstGeom>
          <a:noFill/>
        </p:spPr>
        <p:txBody>
          <a:bodyPr wrap="none">
            <a:spAutoFit/>
          </a:bodyPr>
          <a:lstStyle/>
          <a:p>
            <a:r>
              <a:rPr sz="1300">
                <a:solidFill>
                  <a:srgbClr val="1E293B"/>
                </a:solidFill>
              </a:rPr>
              <a:t>Conventional informal artisan hiring in Ghana suffers from structural market failures summarized in Table 1-1:</a:t>
            </a:r>
          </a:p>
        </p:txBody>
      </p:sp>
      <p:graphicFrame>
        <p:nvGraphicFramePr>
          <p:cNvPr id="6" name="Table 5"/>
          <p:cNvGraphicFramePr>
            <a:graphicFrameLocks noGrp="1"/>
          </p:cNvGraphicFramePr>
          <p:nvPr/>
        </p:nvGraphicFramePr>
        <p:xfrm>
          <a:off x="731520" y="2011680"/>
          <a:ext cx="10728655" cy="3474720"/>
        </p:xfrm>
        <a:graphic>
          <a:graphicData uri="http://schemas.openxmlformats.org/drawingml/2006/table">
            <a:tbl>
              <a:tblPr firstRow="1" bandRow="1">
                <a:tableStyleId>{5C22544A-7EE6-4342-B048-85BDC9FD1C3A}</a:tableStyleId>
              </a:tblPr>
              <a:tblGrid>
                <a:gridCol w="2103120"/>
                <a:gridCol w="4297680"/>
                <a:gridCol w="4327855"/>
              </a:tblGrid>
              <a:tr h="694944">
                <a:tc>
                  <a:txBody>
                    <a:bodyPr/>
                    <a:lstStyle/>
                    <a:p>
                      <a:pPr algn="ctr"/>
                      <a:r>
                        <a:rPr sz="1200" b="1">
                          <a:solidFill>
                            <a:srgbClr val="FFFFFF"/>
                          </a:solidFill>
                          <a:latin typeface="Segoe UI"/>
                        </a:rPr>
                        <a:t>Dimension</a:t>
                      </a:r>
                    </a:p>
                  </a:txBody>
                  <a:tcPr>
                    <a:solidFill>
                      <a:srgbClr val="0F172A"/>
                    </a:solidFill>
                  </a:tcPr>
                </a:tc>
                <a:tc>
                  <a:txBody>
                    <a:bodyPr/>
                    <a:lstStyle/>
                    <a:p>
                      <a:pPr algn="ctr"/>
                      <a:r>
                        <a:rPr sz="1200" b="1">
                          <a:solidFill>
                            <a:srgbClr val="FFFFFF"/>
                          </a:solidFill>
                          <a:latin typeface="Segoe UI"/>
                        </a:rPr>
                        <a:t>Conventional Informal Approach</a:t>
                      </a:r>
                    </a:p>
                  </a:txBody>
                  <a:tcPr>
                    <a:solidFill>
                      <a:srgbClr val="0F172A"/>
                    </a:solidFill>
                  </a:tcPr>
                </a:tc>
                <a:tc>
                  <a:txBody>
                    <a:bodyPr/>
                    <a:lstStyle/>
                    <a:p>
                      <a:pPr algn="ctr"/>
                      <a:r>
                        <a:rPr sz="1200" b="1">
                          <a:solidFill>
                            <a:srgbClr val="FFFFFF"/>
                          </a:solidFill>
                          <a:latin typeface="Segoe UI"/>
                        </a:rPr>
                        <a:t>Fix It Marketplace Solution</a:t>
                      </a:r>
                    </a:p>
                  </a:txBody>
                  <a:tcPr>
                    <a:solidFill>
                      <a:srgbClr val="0F172A"/>
                    </a:solidFill>
                  </a:tcPr>
                </a:tc>
              </a:tr>
              <a:tr h="694944">
                <a:tc>
                  <a:txBody>
                    <a:bodyPr/>
                    <a:lstStyle/>
                    <a:p>
                      <a:pPr algn="ctr"/>
                      <a:r>
                        <a:rPr sz="1100" b="1">
                          <a:solidFill>
                            <a:srgbClr val="4F46E5"/>
                          </a:solidFill>
                          <a:latin typeface="Segoe UI"/>
                        </a:rPr>
                        <a:t>Discovery &amp; Sourcing</a:t>
                      </a:r>
                    </a:p>
                  </a:txBody>
                  <a:tcPr>
                    <a:solidFill>
                      <a:srgbClr val="F1F5F9"/>
                    </a:solidFill>
                  </a:tcPr>
                </a:tc>
                <a:tc>
                  <a:txBody>
                    <a:bodyPr/>
                    <a:lstStyle/>
                    <a:p>
                      <a:pPr algn="l"/>
                      <a:r>
                        <a:rPr sz="1100">
                          <a:solidFill>
                            <a:srgbClr val="1E293B"/>
                          </a:solidFill>
                          <a:latin typeface="Segoe UI"/>
                        </a:rPr>
                        <a:t>Erratic word-of-mouth recommendations, roadside posters, unverified phone contacts</a:t>
                      </a:r>
                    </a:p>
                  </a:txBody>
                  <a:tcPr>
                    <a:solidFill>
                      <a:srgbClr val="F1F5F9"/>
                    </a:solidFill>
                  </a:tcPr>
                </a:tc>
                <a:tc>
                  <a:txBody>
                    <a:bodyPr/>
                    <a:lstStyle/>
                    <a:p>
                      <a:pPr algn="l"/>
                      <a:r>
                        <a:rPr sz="1100">
                          <a:solidFill>
                            <a:srgbClr val="1E293B"/>
                          </a:solidFill>
                          <a:latin typeface="Segoe UI"/>
                        </a:rPr>
                        <a:t>Categorized, searchable service directory with live location filtering</a:t>
                      </a:r>
                    </a:p>
                  </a:txBody>
                  <a:tcPr>
                    <a:solidFill>
                      <a:srgbClr val="F1F5F9"/>
                    </a:solidFill>
                  </a:tcPr>
                </a:tc>
              </a:tr>
              <a:tr h="694944">
                <a:tc>
                  <a:txBody>
                    <a:bodyPr/>
                    <a:lstStyle/>
                    <a:p>
                      <a:pPr algn="ctr"/>
                      <a:r>
                        <a:rPr sz="1100" b="1">
                          <a:solidFill>
                            <a:srgbClr val="4F46E5"/>
                          </a:solidFill>
                          <a:latin typeface="Segoe UI"/>
                        </a:rPr>
                        <a:t>Pricing Model</a:t>
                      </a:r>
                    </a:p>
                  </a:txBody>
                  <a:tcPr>
                    <a:solidFill>
                      <a:srgbClr val="FFFFFF"/>
                    </a:solidFill>
                  </a:tcPr>
                </a:tc>
                <a:tc>
                  <a:txBody>
                    <a:bodyPr/>
                    <a:lstStyle/>
                    <a:p>
                      <a:pPr algn="l"/>
                      <a:r>
                        <a:rPr sz="1100">
                          <a:solidFill>
                            <a:srgbClr val="1E293B"/>
                          </a:solidFill>
                          <a:latin typeface="Segoe UI"/>
                        </a:rPr>
                        <a:t>Arbitrary haggling, unpredictable material markups, hidden fees</a:t>
                      </a:r>
                    </a:p>
                  </a:txBody>
                  <a:tcPr>
                    <a:solidFill>
                      <a:srgbClr val="FFFFFF"/>
                    </a:solidFill>
                  </a:tcPr>
                </a:tc>
                <a:tc>
                  <a:txBody>
                    <a:bodyPr/>
                    <a:lstStyle/>
                    <a:p>
                      <a:pPr algn="l"/>
                      <a:r>
                        <a:rPr sz="1100">
                          <a:solidFill>
                            <a:srgbClr val="1E293B"/>
                          </a:solidFill>
                          <a:latin typeface="Segoe UI"/>
                        </a:rPr>
                        <a:t>Fixed package pricing (GHS) with explicit work scope and escrow tracking</a:t>
                      </a:r>
                    </a:p>
                  </a:txBody>
                  <a:tcPr>
                    <a:solidFill>
                      <a:srgbClr val="FFFFFF"/>
                    </a:solidFill>
                  </a:tcPr>
                </a:tc>
              </a:tr>
              <a:tr h="694944">
                <a:tc>
                  <a:txBody>
                    <a:bodyPr/>
                    <a:lstStyle/>
                    <a:p>
                      <a:pPr algn="ctr"/>
                      <a:r>
                        <a:rPr sz="1100" b="1">
                          <a:solidFill>
                            <a:srgbClr val="4F46E5"/>
                          </a:solidFill>
                          <a:latin typeface="Segoe UI"/>
                        </a:rPr>
                        <a:t>Trust &amp; Security</a:t>
                      </a:r>
                    </a:p>
                  </a:txBody>
                  <a:tcPr>
                    <a:solidFill>
                      <a:srgbClr val="F1F5F9"/>
                    </a:solidFill>
                  </a:tcPr>
                </a:tc>
                <a:tc>
                  <a:txBody>
                    <a:bodyPr/>
                    <a:lstStyle/>
                    <a:p>
                      <a:pPr algn="l"/>
                      <a:r>
                        <a:rPr sz="1100">
                          <a:solidFill>
                            <a:srgbClr val="1E293B"/>
                          </a:solidFill>
                          <a:latin typeface="Segoe UI"/>
                        </a:rPr>
                        <a:t>Zero background verification, personal safety risks, unvetted strangers</a:t>
                      </a:r>
                    </a:p>
                  </a:txBody>
                  <a:tcPr>
                    <a:solidFill>
                      <a:srgbClr val="F1F5F9"/>
                    </a:solidFill>
                  </a:tcPr>
                </a:tc>
                <a:tc>
                  <a:txBody>
                    <a:bodyPr/>
                    <a:lstStyle/>
                    <a:p>
                      <a:pPr algn="l"/>
                      <a:r>
                        <a:rPr sz="1100">
                          <a:solidFill>
                            <a:srgbClr val="1E293B"/>
                          </a:solidFill>
                          <a:latin typeface="Segoe UI"/>
                        </a:rPr>
                        <a:t>Clerk verified profiles, admin identity vetting, authentic client reviews</a:t>
                      </a:r>
                    </a:p>
                  </a:txBody>
                  <a:tcPr>
                    <a:solidFill>
                      <a:srgbClr val="F1F5F9"/>
                    </a:solidFill>
                  </a:tcPr>
                </a:tc>
              </a:tr>
              <a:tr h="694944">
                <a:tc>
                  <a:txBody>
                    <a:bodyPr/>
                    <a:lstStyle/>
                    <a:p>
                      <a:pPr algn="ctr"/>
                      <a:r>
                        <a:rPr sz="1100" b="1">
                          <a:solidFill>
                            <a:srgbClr val="4F46E5"/>
                          </a:solidFill>
                          <a:latin typeface="Segoe UI"/>
                        </a:rPr>
                        <a:t>Communication</a:t>
                      </a:r>
                    </a:p>
                  </a:txBody>
                  <a:tcPr>
                    <a:solidFill>
                      <a:srgbClr val="FFFFFF"/>
                    </a:solidFill>
                  </a:tcPr>
                </a:tc>
                <a:tc>
                  <a:txBody>
                    <a:bodyPr/>
                    <a:lstStyle/>
                    <a:p>
                      <a:pPr algn="l"/>
                      <a:r>
                        <a:rPr sz="1100">
                          <a:solidFill>
                            <a:srgbClr val="1E293B"/>
                          </a:solidFill>
                          <a:latin typeface="Segoe UI"/>
                        </a:rPr>
                        <a:t>Missed phone calls, delayed coordination, lack of appointment scheduling</a:t>
                      </a:r>
                    </a:p>
                  </a:txBody>
                  <a:tcPr>
                    <a:solidFill>
                      <a:srgbClr val="FFFFFF"/>
                    </a:solidFill>
                  </a:tcPr>
                </a:tc>
                <a:tc>
                  <a:txBody>
                    <a:bodyPr/>
                    <a:lstStyle/>
                    <a:p>
                      <a:pPr algn="l"/>
                      <a:r>
                        <a:rPr sz="1100">
                          <a:solidFill>
                            <a:srgbClr val="1E293B"/>
                          </a:solidFill>
                          <a:latin typeface="Segoe UI"/>
                        </a:rPr>
                        <a:t>Automated scheduling system combined with direct Ghana WhatsApp integration</a:t>
                      </a:r>
                    </a:p>
                  </a:txBody>
                  <a:tcPr>
                    <a:solidFill>
                      <a:srgbClr val="FFFFFF"/>
                    </a:solidFill>
                  </a:tcPr>
                </a:tc>
              </a:tr>
            </a:tbl>
          </a:graphicData>
        </a:graphic>
      </p:graphicFrame>
      <p:sp>
        <p:nvSpPr>
          <p:cNvPr id="7" name="Rounded Rectangle 6"/>
          <p:cNvSpPr/>
          <p:nvPr/>
        </p:nvSpPr>
        <p:spPr>
          <a:xfrm>
            <a:off x="731520" y="5669280"/>
            <a:ext cx="10728655" cy="731520"/>
          </a:xfrm>
          <a:prstGeom prst="roundRect">
            <a:avLst/>
          </a:prstGeom>
          <a:solidFill>
            <a:srgbClr val="059669"/>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760720"/>
            <a:ext cx="10362895" cy="548640"/>
          </a:xfrm>
          <a:prstGeom prst="rect">
            <a:avLst/>
          </a:prstGeom>
          <a:noFill/>
        </p:spPr>
        <p:txBody>
          <a:bodyPr wrap="none">
            <a:spAutoFit/>
          </a:bodyPr>
          <a:lstStyle/>
          <a:p>
            <a:r>
              <a:rPr sz="1250" b="1">
                <a:solidFill>
                  <a:srgbClr val="FFFFFF"/>
                </a:solidFill>
                <a:latin typeface="Segoe UI"/>
              </a:rPr>
              <a:t>Summary: Without an accountable digital intermediary, reliable artisans cannot build reputational capital, while consumers suffer financial losses and safety hazards.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 INTRODUCTION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1.4 Scope of Work &amp; 1.5 Thesis Outline</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4663440" cy="4480560"/>
          </a:xfrm>
          <a:prstGeom prst="rect">
            <a:avLst/>
          </a:prstGeom>
          <a:noFill/>
        </p:spPr>
        <p:txBody>
          <a:bodyPr wrap="square">
            <a:spAutoFit/>
          </a:bodyPr>
          <a:lstStyle/>
          <a:p>
            <a:r>
              <a:rPr sz="1600" b="1">
                <a:solidFill>
                  <a:srgbClr val="0F172A"/>
                </a:solidFill>
              </a:rPr>
              <a:t>1.4 Scope &amp; Delimitation of Work
</a:t>
            </a:r>
          </a:p>
          <a:p>
            <a:pPr>
              <a:spcBef>
                <a:spcPts val="800"/>
              </a:spcBef>
            </a:pPr>
            <a:r>
              <a:rPr b="1" sz="1150">
                <a:solidFill>
                  <a:srgbClr val="4F46E5"/>
                </a:solidFill>
              </a:rPr>
              <a:t>Functional Scope: </a:t>
            </a:r>
            <a:r>
              <a:rPr sz="1100">
                <a:solidFill>
                  <a:srgbClr val="1E293B"/>
                </a:solidFill>
              </a:rPr>
              <a:t>End-to-end service discovery, multi-tier pricing in GHS, dual-persona onboarding, booking state machine, and real-time WhatsApp direct action.</a:t>
            </a:r>
          </a:p>
          <a:p>
            <a:pPr>
              <a:spcBef>
                <a:spcPts val="800"/>
              </a:spcBef>
            </a:pPr>
            <a:r>
              <a:rPr b="1" sz="1150">
                <a:solidFill>
                  <a:srgbClr val="4F46E5"/>
                </a:solidFill>
              </a:rPr>
              <a:t>Geographic Scope: </a:t>
            </a:r>
            <a:r>
              <a:rPr sz="1100">
                <a:solidFill>
                  <a:srgbClr val="1E293B"/>
                </a:solidFill>
              </a:rPr>
              <a:t>Metropolitan hubs across Ghana, with initial seed listings focused on Greater Accra and Ashanti Regions.</a:t>
            </a:r>
          </a:p>
          <a:p>
            <a:pPr>
              <a:spcBef>
                <a:spcPts val="800"/>
              </a:spcBef>
            </a:pPr>
            <a:r>
              <a:rPr b="1" sz="1150">
                <a:solidFill>
                  <a:srgbClr val="4F46E5"/>
                </a:solidFill>
              </a:rPr>
              <a:t>Architectural Scope: </a:t>
            </a:r>
            <a:r>
              <a:rPr sz="1100">
                <a:solidFill>
                  <a:srgbClr val="1E293B"/>
                </a:solidFill>
              </a:rPr>
              <a:t>Decoupled cloud stack combining Next.js 16 (App Router), Clerk Auth v7, Sanity Headless CMS, and Neon Serverless PostgreSQL.</a:t>
            </a:r>
          </a:p>
          <a:p>
            <a:pPr>
              <a:spcBef>
                <a:spcPts val="800"/>
              </a:spcBef>
            </a:pPr>
            <a:r>
              <a:rPr b="1" sz="1150">
                <a:solidFill>
                  <a:srgbClr val="4F46E5"/>
                </a:solidFill>
              </a:rPr>
              <a:t>Delimitations: </a:t>
            </a:r>
            <a:r>
              <a:rPr sz="1100">
                <a:solidFill>
                  <a:srgbClr val="1E293B"/>
                </a:solidFill>
              </a:rPr>
              <a:t>Native mobile app compilation (iOS/Android), direct automated third-party escrow settlement gateways (Paystack/MoMo API), and background GPS geofencing are reserved for future enterprise iterations.</a:t>
            </a:r>
          </a:p>
        </p:txBody>
      </p:sp>
      <p:sp>
        <p:nvSpPr>
          <p:cNvPr id="7" name="Rounded Rectangle 6"/>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645920"/>
            <a:ext cx="4663440" cy="4480560"/>
          </a:xfrm>
          <a:prstGeom prst="rect">
            <a:avLst/>
          </a:prstGeom>
          <a:noFill/>
        </p:spPr>
        <p:txBody>
          <a:bodyPr wrap="square">
            <a:spAutoFit/>
          </a:bodyPr>
          <a:lstStyle/>
          <a:p>
            <a:r>
              <a:rPr sz="1600" b="1">
                <a:solidFill>
                  <a:srgbClr val="0F172A"/>
                </a:solidFill>
              </a:rPr>
              <a:t>1.5 Departmental Thesis Outline
</a:t>
            </a:r>
          </a:p>
          <a:p>
            <a:pPr>
              <a:spcBef>
                <a:spcPts val="800"/>
              </a:spcBef>
            </a:pPr>
            <a:r>
              <a:rPr b="1" sz="1150">
                <a:solidFill>
                  <a:srgbClr val="059669"/>
                </a:solidFill>
              </a:rPr>
              <a:t>CHAPTER I: </a:t>
            </a:r>
            <a:r>
              <a:rPr sz="1100">
                <a:solidFill>
                  <a:srgbClr val="1E293B"/>
                </a:solidFill>
              </a:rPr>
              <a:t>Introduction, Background, Objectives, Problem Statement, Scope, and Structural Organization.</a:t>
            </a:r>
          </a:p>
          <a:p>
            <a:pPr>
              <a:spcBef>
                <a:spcPts val="800"/>
              </a:spcBef>
            </a:pPr>
            <a:r>
              <a:rPr b="1" sz="1150">
                <a:solidFill>
                  <a:srgbClr val="059669"/>
                </a:solidFill>
              </a:rPr>
              <a:t>CHAPTER II: </a:t>
            </a:r>
            <a:r>
              <a:rPr sz="1100">
                <a:solidFill>
                  <a:srgbClr val="1E293B"/>
                </a:solidFill>
              </a:rPr>
              <a:t>Literature Review: Relevant economic theories, past reported platforms, and brief introduction of Fix It.</a:t>
            </a:r>
          </a:p>
          <a:p>
            <a:pPr>
              <a:spcBef>
                <a:spcPts val="800"/>
              </a:spcBef>
            </a:pPr>
            <a:r>
              <a:rPr b="1" sz="1150">
                <a:solidFill>
                  <a:srgbClr val="059669"/>
                </a:solidFill>
              </a:rPr>
              <a:t>CHAPTER III: </a:t>
            </a:r>
            <a:r>
              <a:rPr sz="1100">
                <a:solidFill>
                  <a:srgbClr val="1E293B"/>
                </a:solidFill>
              </a:rPr>
              <a:t>System Design: Conceptual model, block diagrams, module designs, and complete full-stack architecture.</a:t>
            </a:r>
          </a:p>
          <a:p>
            <a:pPr>
              <a:spcBef>
                <a:spcPts val="800"/>
              </a:spcBef>
            </a:pPr>
            <a:r>
              <a:rPr b="1" sz="1150">
                <a:solidFill>
                  <a:srgbClr val="059669"/>
                </a:solidFill>
              </a:rPr>
              <a:t>CHAPTER IV: </a:t>
            </a:r>
            <a:r>
              <a:rPr sz="1100">
                <a:solidFill>
                  <a:srgbClr val="1E293B"/>
                </a:solidFill>
              </a:rPr>
              <a:t>Analysis &amp; Discussions / Construction &amp; Testing: Implementation walk-through, live UI demo, testing, and security.</a:t>
            </a:r>
          </a:p>
          <a:p>
            <a:pPr>
              <a:spcBef>
                <a:spcPts val="800"/>
              </a:spcBef>
            </a:pPr>
            <a:r>
              <a:rPr b="1" sz="1150">
                <a:solidFill>
                  <a:srgbClr val="059669"/>
                </a:solidFill>
              </a:rPr>
              <a:t>CHAPTER V: </a:t>
            </a:r>
            <a:r>
              <a:rPr sz="1100">
                <a:solidFill>
                  <a:srgbClr val="1E293B"/>
                </a:solidFill>
              </a:rPr>
              <a:t>Conclusion &amp; Recommendation: Empirical findings, benchmark telemetry, SUS score, and future roadmap.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II: LITERATURE REVIEW</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2.1 Details of Relevant Theory</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728655"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572768"/>
            <a:ext cx="10149840" cy="868680"/>
          </a:xfrm>
          <a:prstGeom prst="rect">
            <a:avLst/>
          </a:prstGeom>
          <a:noFill/>
        </p:spPr>
        <p:txBody>
          <a:bodyPr wrap="square">
            <a:spAutoFit/>
          </a:bodyPr>
          <a:lstStyle/>
          <a:p>
            <a:r>
              <a:rPr sz="1450" b="1">
                <a:solidFill>
                  <a:srgbClr val="4F46E5"/>
                </a:solidFill>
              </a:rPr>
              <a:t>Two-Sided Platform Economics  </a:t>
            </a:r>
            <a:r>
              <a:rPr sz="1150" i="1">
                <a:solidFill>
                  <a:srgbClr val="64748B"/>
                </a:solidFill>
              </a:rPr>
              <a:t>— Rochet &amp; Tirole (2003) | Armstrong (2006)
</a:t>
            </a:r>
          </a:p>
          <a:p>
            <a:r>
              <a:rPr sz="1100">
                <a:solidFill>
                  <a:srgbClr val="1E293B"/>
                </a:solidFill>
              </a:rPr>
              <a:t>Multi-sided platforms create economic surplus by intermediating distinct user cohorts. Indirect network externalities require solving the 'chicken-and-egg' dilemma through friction-free artisan onboarding and open consumer catalog browsing.</a:t>
            </a:r>
          </a:p>
        </p:txBody>
      </p:sp>
      <p:sp>
        <p:nvSpPr>
          <p:cNvPr id="7" name="Rounded Rectangle 6"/>
          <p:cNvSpPr/>
          <p:nvPr/>
        </p:nvSpPr>
        <p:spPr>
          <a:xfrm>
            <a:off x="731520" y="2697480"/>
            <a:ext cx="10728655"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807208"/>
            <a:ext cx="10149840" cy="868680"/>
          </a:xfrm>
          <a:prstGeom prst="rect">
            <a:avLst/>
          </a:prstGeom>
          <a:noFill/>
        </p:spPr>
        <p:txBody>
          <a:bodyPr wrap="square">
            <a:spAutoFit/>
          </a:bodyPr>
          <a:lstStyle/>
          <a:p>
            <a:r>
              <a:rPr sz="1450" b="1">
                <a:solidFill>
                  <a:srgbClr val="4F46E5"/>
                </a:solidFill>
              </a:rPr>
              <a:t>Market for Lemons &amp; Adverse Selection  </a:t>
            </a:r>
            <a:r>
              <a:rPr sz="1150" i="1">
                <a:solidFill>
                  <a:srgbClr val="64748B"/>
                </a:solidFill>
              </a:rPr>
              <a:t>— George A. Akerlof (1970)
</a:t>
            </a:r>
          </a:p>
          <a:p>
            <a:r>
              <a:rPr sz="1100">
                <a:solidFill>
                  <a:srgbClr val="1E293B"/>
                </a:solidFill>
              </a:rPr>
              <a:t>Quality uncertainty causes buyers to expect poor service, depressing market prices and driving skilled artisans out of the informal trade market. Fix It replaces quality ambiguity with verifiable digital reputation capital.</a:t>
            </a:r>
          </a:p>
        </p:txBody>
      </p:sp>
      <p:sp>
        <p:nvSpPr>
          <p:cNvPr id="9" name="Rounded Rectangle 8"/>
          <p:cNvSpPr/>
          <p:nvPr/>
        </p:nvSpPr>
        <p:spPr>
          <a:xfrm>
            <a:off x="731520" y="3931920"/>
            <a:ext cx="10728655"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41648"/>
            <a:ext cx="10149840" cy="868680"/>
          </a:xfrm>
          <a:prstGeom prst="rect">
            <a:avLst/>
          </a:prstGeom>
          <a:noFill/>
        </p:spPr>
        <p:txBody>
          <a:bodyPr wrap="square">
            <a:spAutoFit/>
          </a:bodyPr>
          <a:lstStyle/>
          <a:p>
            <a:r>
              <a:rPr sz="1450" b="1">
                <a:solidFill>
                  <a:srgbClr val="4F46E5"/>
                </a:solidFill>
              </a:rPr>
              <a:t>Signaling Theory in Digital Labor  </a:t>
            </a:r>
            <a:r>
              <a:rPr sz="1150" i="1">
                <a:solidFill>
                  <a:srgbClr val="64748B"/>
                </a:solidFill>
              </a:rPr>
              <a:t>— Michael Spence (1973)
</a:t>
            </a:r>
          </a:p>
          <a:p>
            <a:r>
              <a:rPr sz="1100">
                <a:solidFill>
                  <a:srgbClr val="1E293B"/>
                </a:solidFill>
              </a:rPr>
              <a:t>High-quality providers must emit costly, verifiable signals that low-quality imitators cannot easily mimic. Operationalized via Clerk identity vetting, trade licensing verification, and immutable customer reviews.</a:t>
            </a:r>
          </a:p>
        </p:txBody>
      </p:sp>
      <p:sp>
        <p:nvSpPr>
          <p:cNvPr id="11" name="Rounded Rectangle 10"/>
          <p:cNvSpPr/>
          <p:nvPr/>
        </p:nvSpPr>
        <p:spPr>
          <a:xfrm>
            <a:off x="731520" y="5166360"/>
            <a:ext cx="10728655"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276088"/>
            <a:ext cx="10149840" cy="868680"/>
          </a:xfrm>
          <a:prstGeom prst="rect">
            <a:avLst/>
          </a:prstGeom>
          <a:noFill/>
        </p:spPr>
        <p:txBody>
          <a:bodyPr wrap="square">
            <a:spAutoFit/>
          </a:bodyPr>
          <a:lstStyle/>
          <a:p>
            <a:r>
              <a:rPr sz="1450" b="1">
                <a:solidFill>
                  <a:srgbClr val="4F46E5"/>
                </a:solidFill>
              </a:rPr>
              <a:t>Technology Acceptance Model (TAM)  </a:t>
            </a:r>
            <a:r>
              <a:rPr sz="1150" i="1">
                <a:solidFill>
                  <a:srgbClr val="64748B"/>
                </a:solidFill>
              </a:rPr>
              <a:t>— Fred Davis (1989)
</a:t>
            </a:r>
          </a:p>
          <a:p>
            <a:r>
              <a:rPr sz="1100">
                <a:solidFill>
                  <a:srgbClr val="1E293B"/>
                </a:solidFill>
              </a:rPr>
              <a:t>Perceived Usefulness (PU) and Perceived Ease of Use (PEOU) dictate adoption in West Africa. Rather than forcing complex Western workflows, Fix It pairs centralized web booking with familiar WhatsApp messaging.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II: LITERATURE REVIEW</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2.2 Review of Past Work &amp; 2.3 Proposed Solution</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4663440" cy="4480560"/>
          </a:xfrm>
          <a:prstGeom prst="rect">
            <a:avLst/>
          </a:prstGeom>
          <a:noFill/>
        </p:spPr>
        <p:txBody>
          <a:bodyPr wrap="square">
            <a:spAutoFit/>
          </a:bodyPr>
          <a:lstStyle/>
          <a:p>
            <a:r>
              <a:rPr sz="1600" b="1">
                <a:solidFill>
                  <a:srgbClr val="0F172A"/>
                </a:solidFill>
              </a:rPr>
              <a:t>2.2 Review of Past/Reported Work
</a:t>
            </a:r>
          </a:p>
          <a:p>
            <a:pPr>
              <a:spcBef>
                <a:spcPts val="800"/>
              </a:spcBef>
            </a:pPr>
            <a:r>
              <a:rPr b="1" sz="1150">
                <a:solidFill>
                  <a:srgbClr val="E11D48"/>
                </a:solidFill>
              </a:rPr>
              <a:t>TaskRabbit &amp; Urban Company (Global): </a:t>
            </a:r>
            <a:r>
              <a:rPr sz="1100">
                <a:solidFill>
                  <a:srgbClr val="1E293B"/>
                </a:solidFill>
              </a:rPr>
              <a:t>Western and Asian platforms rely on formal credit scoring, mandatory credit card payments, and proprietary in-app messaging, which alienate informal African participants.</a:t>
            </a:r>
          </a:p>
          <a:p>
            <a:pPr>
              <a:spcBef>
                <a:spcPts val="800"/>
              </a:spcBef>
            </a:pPr>
            <a:r>
              <a:rPr b="1" sz="1150">
                <a:solidFill>
                  <a:srgbClr val="E11D48"/>
                </a:solidFill>
              </a:rPr>
              <a:t>Jiji Ghana &amp; Tonaton (Regional Classifieds): </a:t>
            </a:r>
            <a:r>
              <a:rPr sz="1100">
                <a:solidFill>
                  <a:srgbClr val="1E293B"/>
                </a:solidFill>
              </a:rPr>
              <a:t>Function merely as unregulated digital billboards with zero identity verification, high scam rates, and no transaction recourse.</a:t>
            </a:r>
          </a:p>
          <a:p>
            <a:pPr>
              <a:spcBef>
                <a:spcPts val="800"/>
              </a:spcBef>
            </a:pPr>
            <a:r>
              <a:rPr b="1" sz="1150">
                <a:solidFill>
                  <a:srgbClr val="E11D48"/>
                </a:solidFill>
              </a:rPr>
              <a:t>Lynk Kenya (Regional Dedicated Platform): </a:t>
            </a:r>
            <a:r>
              <a:rPr sz="1100">
                <a:solidFill>
                  <a:srgbClr val="1E293B"/>
                </a:solidFill>
              </a:rPr>
              <a:t>Achieved initial traction but failed due to unsustainable overhead from manual phone-dispatch operators.</a:t>
            </a:r>
          </a:p>
        </p:txBody>
      </p:sp>
      <p:sp>
        <p:nvSpPr>
          <p:cNvPr id="7" name="Rounded Rectangle 6"/>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645920"/>
            <a:ext cx="4663440" cy="4480560"/>
          </a:xfrm>
          <a:prstGeom prst="rect">
            <a:avLst/>
          </a:prstGeom>
          <a:noFill/>
        </p:spPr>
        <p:txBody>
          <a:bodyPr wrap="square">
            <a:spAutoFit/>
          </a:bodyPr>
          <a:lstStyle/>
          <a:p>
            <a:r>
              <a:rPr sz="1600" b="1">
                <a:solidFill>
                  <a:srgbClr val="0F172A"/>
                </a:solidFill>
              </a:rPr>
              <a:t>2.3 Brief Intro of Proposed Solution
</a:t>
            </a:r>
          </a:p>
          <a:p>
            <a:pPr>
              <a:spcBef>
                <a:spcPts val="800"/>
              </a:spcBef>
            </a:pPr>
            <a:r>
              <a:rPr b="1" sz="1150">
                <a:solidFill>
                  <a:srgbClr val="059669"/>
                </a:solidFill>
              </a:rPr>
              <a:t>Fix It Marketplace: </a:t>
            </a:r>
            <a:r>
              <a:rPr sz="1100">
                <a:solidFill>
                  <a:srgbClr val="1E293B"/>
                </a:solidFill>
              </a:rPr>
              <a:t>A localized, trust-driven on-demand ecosystem bridging domestic consumers with verified Ghanaian tradespeople.</a:t>
            </a:r>
          </a:p>
          <a:p>
            <a:pPr>
              <a:spcBef>
                <a:spcPts val="800"/>
              </a:spcBef>
            </a:pPr>
            <a:r>
              <a:rPr b="1" sz="1150">
                <a:solidFill>
                  <a:srgbClr val="059669"/>
                </a:solidFill>
              </a:rPr>
              <a:t>Decoupled Headless Jamstack: </a:t>
            </a:r>
            <a:r>
              <a:rPr sz="1100">
                <a:solidFill>
                  <a:srgbClr val="1E293B"/>
                </a:solidFill>
              </a:rPr>
              <a:t>Next.js 16 Server Components + Sanity CMS Content Lake deliver sub-1.2s page loads under mobile network constraints.</a:t>
            </a:r>
          </a:p>
          <a:p>
            <a:pPr>
              <a:spcBef>
                <a:spcPts val="800"/>
              </a:spcBef>
            </a:pPr>
            <a:r>
              <a:rPr b="1" sz="1150">
                <a:solidFill>
                  <a:srgbClr val="059669"/>
                </a:solidFill>
              </a:rPr>
              <a:t>Transparent Tiered Packaging: </a:t>
            </a:r>
            <a:r>
              <a:rPr sz="1100">
                <a:solidFill>
                  <a:srgbClr val="1E293B"/>
                </a:solidFill>
              </a:rPr>
              <a:t>Standardized Basic, Standard, and Premium packages in Ghana Cedis (GHS) eliminate price haggling.</a:t>
            </a:r>
          </a:p>
          <a:p>
            <a:pPr>
              <a:spcBef>
                <a:spcPts val="800"/>
              </a:spcBef>
            </a:pPr>
            <a:r>
              <a:rPr b="1" sz="1150">
                <a:solidFill>
                  <a:srgbClr val="059669"/>
                </a:solidFill>
              </a:rPr>
              <a:t>Localized WhatsApp Bridge: </a:t>
            </a:r>
            <a:r>
              <a:rPr sz="1100">
                <a:solidFill>
                  <a:srgbClr val="1E293B"/>
                </a:solidFill>
              </a:rPr>
              <a:t>Combines centralized database order tracking with direct WhatsApp messaging (+233) matching Ghanaian commerce habits.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III: SYSTEM DESIGN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3.1 Concept &amp; 3.2 Block Diagram Description</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4663440" cy="4480560"/>
          </a:xfrm>
          <a:prstGeom prst="rect">
            <a:avLst/>
          </a:prstGeom>
          <a:noFill/>
        </p:spPr>
        <p:txBody>
          <a:bodyPr wrap="square">
            <a:spAutoFit/>
          </a:bodyPr>
          <a:lstStyle/>
          <a:p>
            <a:r>
              <a:rPr sz="1600" b="1">
                <a:solidFill>
                  <a:srgbClr val="0F172A"/>
                </a:solidFill>
              </a:rPr>
              <a:t>3.1 System Concept
</a:t>
            </a:r>
          </a:p>
          <a:p>
            <a:pPr>
              <a:spcBef>
                <a:spcPts val="800"/>
              </a:spcBef>
            </a:pPr>
            <a:r>
              <a:rPr b="1" sz="1150">
                <a:solidFill>
                  <a:srgbClr val="4F46E5"/>
                </a:solidFill>
              </a:rPr>
              <a:t>Core Philosophy: </a:t>
            </a:r>
            <a:r>
              <a:rPr sz="1100">
                <a:solidFill>
                  <a:srgbClr val="1E293B"/>
                </a:solidFill>
              </a:rPr>
              <a:t>Fix It is engineered as a trust-driven, multi-sided marketplace that replaces chaotic informal referrals with verified institutional signaling.</a:t>
            </a:r>
          </a:p>
          <a:p>
            <a:pPr>
              <a:spcBef>
                <a:spcPts val="800"/>
              </a:spcBef>
            </a:pPr>
            <a:r>
              <a:rPr b="1" sz="1150">
                <a:solidFill>
                  <a:srgbClr val="4F46E5"/>
                </a:solidFill>
              </a:rPr>
              <a:t>Dual-Persona Workflow: </a:t>
            </a:r>
            <a:r>
              <a:rPr sz="1100">
                <a:solidFill>
                  <a:srgbClr val="1E293B"/>
                </a:solidFill>
              </a:rPr>
              <a:t>Clients browse services, compare tiered scopes, and book verified artisans; artisans onboard credentials, manage orders, and coordinate dispatch.</a:t>
            </a:r>
          </a:p>
          <a:p>
            <a:pPr>
              <a:spcBef>
                <a:spcPts val="800"/>
              </a:spcBef>
            </a:pPr>
            <a:r>
              <a:rPr b="1" sz="1150">
                <a:solidFill>
                  <a:srgbClr val="4F46E5"/>
                </a:solidFill>
              </a:rPr>
              <a:t>Cultural Usability Alignment: </a:t>
            </a:r>
            <a:r>
              <a:rPr sz="1100">
                <a:solidFill>
                  <a:srgbClr val="1E293B"/>
                </a:solidFill>
              </a:rPr>
              <a:t>Marries stateful relational tracking with instant WhatsApp communication (+233) to eliminate friction.</a:t>
            </a:r>
          </a:p>
          <a:p>
            <a:pPr>
              <a:spcBef>
                <a:spcPts val="800"/>
              </a:spcBef>
            </a:pPr>
            <a:r>
              <a:rPr b="1" sz="1150">
                <a:solidFill>
                  <a:srgbClr val="4F46E5"/>
                </a:solidFill>
              </a:rPr>
              <a:t>Edge Performance: </a:t>
            </a:r>
            <a:r>
              <a:rPr sz="1100">
                <a:solidFill>
                  <a:srgbClr val="1E293B"/>
                </a:solidFill>
              </a:rPr>
              <a:t>Utilizes server-side rendering to stream zero-bundle HTML, conserving user mobile cellular data.</a:t>
            </a:r>
          </a:p>
        </p:txBody>
      </p:sp>
      <p:sp>
        <p:nvSpPr>
          <p:cNvPr id="7" name="Rounded Rectangle 6"/>
          <p:cNvSpPr/>
          <p:nvPr/>
        </p:nvSpPr>
        <p:spPr>
          <a:xfrm>
            <a:off x="6217920" y="1463040"/>
            <a:ext cx="5212080" cy="48463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480560"/>
          </a:xfrm>
          <a:prstGeom prst="rect">
            <a:avLst/>
          </a:prstGeom>
          <a:noFill/>
        </p:spPr>
        <p:txBody>
          <a:bodyPr wrap="square">
            <a:spAutoFit/>
          </a:bodyPr>
          <a:lstStyle/>
          <a:p>
            <a:r>
              <a:rPr sz="1500" b="1">
                <a:solidFill>
                  <a:srgbClr val="059669"/>
                </a:solidFill>
              </a:rPr>
              <a:t>3.2 Block Diagram Description
</a:t>
            </a:r>
            <a:r>
              <a:rPr sz="950">
                <a:solidFill>
                  <a:srgbClr val="FFFFFF"/>
                </a:solidFill>
                <a:latin typeface="Courier New"/>
              </a:rPr>
              <a:t>+-----------------------------------------------+
|         BLOCK 1: CLIENT PRESENTATION          |
| Next.js 16 Client Components / Tailwind CSS   |
+-----------------------+-----------------------+
                        | HTTPS / TLS 1.3
                        v
+-----------------------------------------------+
|       BLOCK 2: EDGE ROUTER &amp; CLERK AUTH       |
| Edge Middleware / Session Token Validation    |
+-----------+-----------------------+-----------+
            |                       |
    GROQ Read Queries       Transactional Writes
            v                       v
+-----------------------+ +---------------------+
|  BLOCK 3: CONTENT LAKE| | BLOCK 4: RELATIONAL |
|  Sanity CMS (Services)| | Neon PostgreSQL (DB)|
+-----------+-----------+ +----------+----------+
            |                        |
            +-----------+------------+
                        v
+-----------------------------------------------+
|     BLOCK 5: WHATSAPP DISPATCH ENGINE (+233)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III: SYSTEM DESIGN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3.3 Module Design: Concept of Each Architectural Block</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41148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3749039" cy="4480560"/>
          </a:xfrm>
          <a:prstGeom prst="rect">
            <a:avLst/>
          </a:prstGeom>
          <a:noFill/>
        </p:spPr>
        <p:txBody>
          <a:bodyPr wrap="square">
            <a:spAutoFit/>
          </a:bodyPr>
          <a:lstStyle/>
          <a:p>
            <a:r>
              <a:rPr sz="1600" b="1">
                <a:solidFill>
                  <a:srgbClr val="0F172A"/>
                </a:solidFill>
              </a:rPr>
              <a:t>Core Architectural Modules
</a:t>
            </a:r>
          </a:p>
          <a:p>
            <a:pPr>
              <a:spcBef>
                <a:spcPts val="800"/>
              </a:spcBef>
            </a:pPr>
            <a:r>
              <a:rPr b="1" sz="1150">
                <a:solidFill>
                  <a:srgbClr val="4F46E5"/>
                </a:solidFill>
              </a:rPr>
              <a:t>Design System Module: </a:t>
            </a:r>
            <a:r>
              <a:rPr sz="1100">
                <a:solidFill>
                  <a:srgbClr val="1E293B"/>
                </a:solidFill>
              </a:rPr>
              <a:t>Standardizes HSL tokens, interactive cards, badges, and forms; WCAG 2.1 AA compliant (live at `/design-system`).</a:t>
            </a:r>
          </a:p>
          <a:p>
            <a:pPr>
              <a:spcBef>
                <a:spcPts val="800"/>
              </a:spcBef>
            </a:pPr>
            <a:r>
              <a:rPr b="1" sz="1150">
                <a:solidFill>
                  <a:srgbClr val="4F46E5"/>
                </a:solidFill>
              </a:rPr>
              <a:t>Identity &amp; RBAC Module: </a:t>
            </a:r>
            <a:r>
              <a:rPr sz="1100">
                <a:solidFill>
                  <a:srgbClr val="1E293B"/>
                </a:solidFill>
              </a:rPr>
              <a:t>Clerk engine manages OAuth &amp; session tokens; custom metadata dynamically provisions customer vs. artisan roles.</a:t>
            </a:r>
          </a:p>
          <a:p>
            <a:pPr>
              <a:spcBef>
                <a:spcPts val="800"/>
              </a:spcBef>
            </a:pPr>
            <a:r>
              <a:rPr b="1" sz="1150">
                <a:solidFill>
                  <a:srgbClr val="4F46E5"/>
                </a:solidFill>
              </a:rPr>
              <a:t>Content Lake Module: </a:t>
            </a:r>
            <a:r>
              <a:rPr sz="1100">
                <a:solidFill>
                  <a:srgbClr val="1E293B"/>
                </a:solidFill>
              </a:rPr>
              <a:t>Sanity CMS schemas govern services, categories, and provider profiles via declarative GROQ projections.</a:t>
            </a:r>
          </a:p>
          <a:p>
            <a:pPr>
              <a:spcBef>
                <a:spcPts val="800"/>
              </a:spcBef>
            </a:pPr>
            <a:r>
              <a:rPr b="1" sz="1150">
                <a:solidFill>
                  <a:srgbClr val="4F46E5"/>
                </a:solidFill>
              </a:rPr>
              <a:t>Transaction Ledger Module: </a:t>
            </a:r>
            <a:r>
              <a:rPr sz="1100">
                <a:solidFill>
                  <a:srgbClr val="1E293B"/>
                </a:solidFill>
              </a:rPr>
              <a:t>PostgreSQL enforces ACID compliance, booking state machines, and cancellation audit trails.</a:t>
            </a:r>
          </a:p>
        </p:txBody>
      </p:sp>
      <p:sp>
        <p:nvSpPr>
          <p:cNvPr id="7" name="Rounded Rectangle 6"/>
          <p:cNvSpPr/>
          <p:nvPr/>
        </p:nvSpPr>
        <p:spPr>
          <a:xfrm>
            <a:off x="5120640" y="1463040"/>
            <a:ext cx="6339535"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ive_figure_3_2_design_system.png"/>
          <p:cNvPicPr>
            <a:picLocks noChangeAspect="1"/>
          </p:cNvPicPr>
          <p:nvPr/>
        </p:nvPicPr>
        <p:blipFill>
          <a:blip r:embed="rId2"/>
          <a:stretch>
            <a:fillRect/>
          </a:stretch>
        </p:blipFill>
        <p:spPr>
          <a:xfrm>
            <a:off x="5303520" y="1645920"/>
            <a:ext cx="5943600" cy="4206240"/>
          </a:xfrm>
          <a:prstGeom prst="rect">
            <a:avLst/>
          </a:prstGeom>
        </p:spPr>
      </p:pic>
      <p:sp>
        <p:nvSpPr>
          <p:cNvPr id="9" name="TextBox 8"/>
          <p:cNvSpPr txBox="1"/>
          <p:nvPr/>
        </p:nvSpPr>
        <p:spPr>
          <a:xfrm>
            <a:off x="5303520" y="5897880"/>
            <a:ext cx="5943600" cy="365760"/>
          </a:xfrm>
          <a:prstGeom prst="rect">
            <a:avLst/>
          </a:prstGeom>
          <a:noFill/>
        </p:spPr>
        <p:txBody>
          <a:bodyPr wrap="none">
            <a:spAutoFit/>
          </a:bodyPr>
          <a:lstStyle/>
          <a:p>
            <a:pPr algn="ctr"/>
            <a:r>
              <a:rPr sz="1050" i="1">
                <a:solidFill>
                  <a:srgbClr val="64748B"/>
                </a:solidFill>
              </a:rPr>
              <a:t>Figure 3-2: Live Fix-It Design System Architecture &amp; Interactive Tokens (/design-system)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III: SYSTEM DESIGN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3.4 Full System Architecture Diagram &amp; Ranking Formulations</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4663440" cy="4480560"/>
          </a:xfrm>
          <a:prstGeom prst="rect">
            <a:avLst/>
          </a:prstGeom>
          <a:noFill/>
        </p:spPr>
        <p:txBody>
          <a:bodyPr wrap="square">
            <a:spAutoFit/>
          </a:bodyPr>
          <a:lstStyle/>
          <a:p>
            <a:r>
              <a:rPr sz="1500" b="1">
                <a:solidFill>
                  <a:srgbClr val="0F172A"/>
                </a:solidFill>
              </a:rPr>
              <a:t>Multi-Criteria Provider Ranking Formula
</a:t>
            </a:r>
          </a:p>
          <a:p>
            <a:pPr>
              <a:spcBef>
                <a:spcPts val="800"/>
              </a:spcBef>
            </a:pPr>
            <a:r>
              <a:rPr sz="1000" b="1">
                <a:solidFill>
                  <a:srgbClr val="4F46E5"/>
                </a:solidFill>
                <a:latin typeface="Courier New"/>
              </a:rPr>
              <a:t>Score(p, q) = w1*Relevance + w2*Verification + w3*(Rating/5.0) - w4*Distance</a:t>
            </a:r>
          </a:p>
          <a:p>
            <a:pPr>
              <a:spcBef>
                <a:spcPts val="600"/>
              </a:spcBef>
            </a:pPr>
            <a:r>
              <a:rPr sz="1100">
                <a:solidFill>
                  <a:srgbClr val="1E293B"/>
                </a:solidFill>
              </a:rPr>
              <a:t>Weights: w1 = 0.25 (Text), w2 = 0.35 (Vetted Badge), w3 = 0.30 (Rating), w4 = 0.10 (Haversine Distance penalty).
</a:t>
            </a:r>
          </a:p>
          <a:p>
            <a:pPr>
              <a:spcBef>
                <a:spcPts val="800"/>
              </a:spcBef>
            </a:pPr>
            <a:r>
              <a:rPr b="1" sz="1200">
                <a:solidFill>
                  <a:srgbClr val="0F172A"/>
                </a:solidFill>
              </a:rPr>
              <a:t>Haversine Distance Formula for Proximity:
</a:t>
            </a:r>
            <a:r>
              <a:rPr sz="950">
                <a:solidFill>
                  <a:srgbClr val="059669"/>
                </a:solidFill>
                <a:latin typeface="Courier New"/>
              </a:rPr>
              <a:t>d = 2 * r * arcsin(sqrt(sin^2(dLat/2) + cos(lat1) * cos(lat2) * sin^2(dLon/2)))</a:t>
            </a:r>
          </a:p>
        </p:txBody>
      </p:sp>
      <p:sp>
        <p:nvSpPr>
          <p:cNvPr id="7" name="Rounded Rectangle 6"/>
          <p:cNvSpPr/>
          <p:nvPr/>
        </p:nvSpPr>
        <p:spPr>
          <a:xfrm>
            <a:off x="6217920" y="1463040"/>
            <a:ext cx="5212080" cy="48463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4846320" cy="4480560"/>
          </a:xfrm>
          <a:prstGeom prst="rect">
            <a:avLst/>
          </a:prstGeom>
          <a:noFill/>
        </p:spPr>
        <p:txBody>
          <a:bodyPr wrap="square">
            <a:spAutoFit/>
          </a:bodyPr>
          <a:lstStyle/>
          <a:p>
            <a:r>
              <a:rPr sz="1400" b="1">
                <a:solidFill>
                  <a:srgbClr val="059669"/>
                </a:solidFill>
              </a:rPr>
              <a:t>Figure 3-1: System Data Flow Architecture
</a:t>
            </a:r>
            <a:r>
              <a:rPr sz="1000">
                <a:solidFill>
                  <a:srgbClr val="FFFFFF"/>
                </a:solidFill>
                <a:latin typeface="Courier New"/>
              </a:rPr>
              <a:t>[Client Presentation Tier (React 19 / Tailwind)]
                      |
      Edge Security &amp; Clerk Middleware
         /                         \
  (Read GROQ Query)       (Transactional Mutation)
        v                             v
[Sanity Content Lake]       [Neon PostgreSQL Store]
- Services &amp; Packages       - Orders &amp; State Machine
- Provider Verified Badges  - Cancellation Audit Logs
        \                             /
         +-------------+-------------+
                       v
[WhatsApp Internationalized Bridge (+233)]
-&gt; Real-Time Artisan Coordination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IV: CONSTRUCTION &amp; DEMONSTRATION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Discovery Catalog (Fig 4-1) &amp; Role Selection Modal (Fig 4-2)</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ve_figure_4_1_homepage_catalog.png"/>
          <p:cNvPicPr>
            <a:picLocks noChangeAspect="1"/>
          </p:cNvPicPr>
          <p:nvPr/>
        </p:nvPicPr>
        <p:blipFill>
          <a:blip r:embed="rId2"/>
          <a:stretch>
            <a:fillRect/>
          </a:stretch>
        </p:blipFill>
        <p:spPr>
          <a:xfrm>
            <a:off x="914400" y="1645920"/>
            <a:ext cx="4846320" cy="3291840"/>
          </a:xfrm>
          <a:prstGeom prst="rect">
            <a:avLst/>
          </a:prstGeom>
        </p:spPr>
      </p:pic>
      <p:sp>
        <p:nvSpPr>
          <p:cNvPr id="7" name="TextBox 6"/>
          <p:cNvSpPr txBox="1"/>
          <p:nvPr/>
        </p:nvSpPr>
        <p:spPr>
          <a:xfrm>
            <a:off x="914400" y="5029200"/>
            <a:ext cx="4846320" cy="1188720"/>
          </a:xfrm>
          <a:prstGeom prst="rect">
            <a:avLst/>
          </a:prstGeom>
          <a:noFill/>
        </p:spPr>
        <p:txBody>
          <a:bodyPr wrap="square">
            <a:spAutoFit/>
          </a:bodyPr>
          <a:lstStyle/>
          <a:p>
            <a:r>
              <a:rPr b="1" sz="1200">
                <a:solidFill>
                  <a:srgbClr val="4F46E5"/>
                </a:solidFill>
              </a:rPr>
              <a:t>Figure 4-1: Service Catalog &amp; Discovery
</a:t>
            </a:r>
            <a:r>
              <a:rPr sz="1100">
                <a:solidFill>
                  <a:srgbClr val="1E293B"/>
                </a:solidFill>
              </a:rPr>
              <a:t>Live landing page with multi-category chips, debounced search, trust value badges, and verified artisan listings.</a:t>
            </a:r>
          </a:p>
        </p:txBody>
      </p:sp>
      <p:sp>
        <p:nvSpPr>
          <p:cNvPr id="8" name="Rounded Rectangle 7"/>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ive_figure_4_2_persona_modal.png"/>
          <p:cNvPicPr>
            <a:picLocks noChangeAspect="1"/>
          </p:cNvPicPr>
          <p:nvPr/>
        </p:nvPicPr>
        <p:blipFill>
          <a:blip r:embed="rId3"/>
          <a:stretch>
            <a:fillRect/>
          </a:stretch>
        </p:blipFill>
        <p:spPr>
          <a:xfrm>
            <a:off x="6400800" y="1645920"/>
            <a:ext cx="4846320" cy="3291840"/>
          </a:xfrm>
          <a:prstGeom prst="rect">
            <a:avLst/>
          </a:prstGeom>
        </p:spPr>
      </p:pic>
      <p:sp>
        <p:nvSpPr>
          <p:cNvPr id="10" name="TextBox 9"/>
          <p:cNvSpPr txBox="1"/>
          <p:nvPr/>
        </p:nvSpPr>
        <p:spPr>
          <a:xfrm>
            <a:off x="6400800" y="5029200"/>
            <a:ext cx="4846320" cy="1188720"/>
          </a:xfrm>
          <a:prstGeom prst="rect">
            <a:avLst/>
          </a:prstGeom>
          <a:noFill/>
        </p:spPr>
        <p:txBody>
          <a:bodyPr wrap="square">
            <a:spAutoFit/>
          </a:bodyPr>
          <a:lstStyle/>
          <a:p>
            <a:r>
              <a:rPr b="1" sz="1200">
                <a:solidFill>
                  <a:srgbClr val="059669"/>
                </a:solidFill>
              </a:rPr>
              <a:t>Figure 4-2: Dual-Persona Role Gateway
</a:t>
            </a:r>
            <a:r>
              <a:rPr sz="1100">
                <a:solidFill>
                  <a:srgbClr val="1E293B"/>
                </a:solidFill>
              </a:rPr>
              <a:t>First-time authentication modal allowing user selection between Hiring Services and Providing Services, dynamically synced to Clerk.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IV: CONSTRUCTION &amp; DEMONSTRATION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Client Welcome Hub (Fig 4-3) &amp; Multi-Tier Pricing (Fig 4-4)</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ve_figure_4_3_personalized_welcome.png"/>
          <p:cNvPicPr>
            <a:picLocks noChangeAspect="1"/>
          </p:cNvPicPr>
          <p:nvPr/>
        </p:nvPicPr>
        <p:blipFill>
          <a:blip r:embed="rId2"/>
          <a:stretch>
            <a:fillRect/>
          </a:stretch>
        </p:blipFill>
        <p:spPr>
          <a:xfrm>
            <a:off x="914400" y="1645920"/>
            <a:ext cx="4846320" cy="3291840"/>
          </a:xfrm>
          <a:prstGeom prst="rect">
            <a:avLst/>
          </a:prstGeom>
        </p:spPr>
      </p:pic>
      <p:sp>
        <p:nvSpPr>
          <p:cNvPr id="7" name="TextBox 6"/>
          <p:cNvSpPr txBox="1"/>
          <p:nvPr/>
        </p:nvSpPr>
        <p:spPr>
          <a:xfrm>
            <a:off x="914400" y="5029200"/>
            <a:ext cx="4846320" cy="1188720"/>
          </a:xfrm>
          <a:prstGeom prst="rect">
            <a:avLst/>
          </a:prstGeom>
          <a:noFill/>
        </p:spPr>
        <p:txBody>
          <a:bodyPr wrap="square">
            <a:spAutoFit/>
          </a:bodyPr>
          <a:lstStyle/>
          <a:p>
            <a:r>
              <a:rPr b="1" sz="1200">
                <a:solidFill>
                  <a:srgbClr val="4F46E5"/>
                </a:solidFill>
              </a:rPr>
              <a:t>Figure 4-3: Personalized Welcome Hub
</a:t>
            </a:r>
            <a:r>
              <a:rPr sz="1100">
                <a:solidFill>
                  <a:srgbClr val="1E293B"/>
                </a:solidFill>
              </a:rPr>
              <a:t>Greets authenticated consumers, showcases quick booking categories, and displays live booking activity counters.</a:t>
            </a:r>
          </a:p>
        </p:txBody>
      </p:sp>
      <p:sp>
        <p:nvSpPr>
          <p:cNvPr id="8" name="Rounded Rectangle 7"/>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ive_figure_4_4_service_detail_tiers.png"/>
          <p:cNvPicPr>
            <a:picLocks noChangeAspect="1"/>
          </p:cNvPicPr>
          <p:nvPr/>
        </p:nvPicPr>
        <p:blipFill>
          <a:blip r:embed="rId3"/>
          <a:stretch>
            <a:fillRect/>
          </a:stretch>
        </p:blipFill>
        <p:spPr>
          <a:xfrm>
            <a:off x="6400800" y="1645920"/>
            <a:ext cx="4846320" cy="3291840"/>
          </a:xfrm>
          <a:prstGeom prst="rect">
            <a:avLst/>
          </a:prstGeom>
        </p:spPr>
      </p:pic>
      <p:sp>
        <p:nvSpPr>
          <p:cNvPr id="10" name="TextBox 9"/>
          <p:cNvSpPr txBox="1"/>
          <p:nvPr/>
        </p:nvSpPr>
        <p:spPr>
          <a:xfrm>
            <a:off x="6400800" y="5029200"/>
            <a:ext cx="4846320" cy="1188720"/>
          </a:xfrm>
          <a:prstGeom prst="rect">
            <a:avLst/>
          </a:prstGeom>
          <a:noFill/>
        </p:spPr>
        <p:txBody>
          <a:bodyPr wrap="square">
            <a:spAutoFit/>
          </a:bodyPr>
          <a:lstStyle/>
          <a:p>
            <a:r>
              <a:rPr b="1" sz="1200">
                <a:solidFill>
                  <a:srgbClr val="059669"/>
                </a:solidFill>
              </a:rPr>
              <a:t>Figure 4-4: 3-Tier Package Pricing Matrix
</a:t>
            </a:r>
            <a:r>
              <a:rPr sz="1100">
                <a:solidFill>
                  <a:srgbClr val="1E293B"/>
                </a:solidFill>
              </a:rPr>
              <a:t>Details Basic, Standard, and Premium packages in Ghana Cedis (GHS) with explicit work scope inclusions and exclusions.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IV: CONSTRUCTION &amp; DEMONSTRATION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Bookings Ledger &amp; WhatsApp Direct Action (Fig 4-5)</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41148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3749039" cy="4480560"/>
          </a:xfrm>
          <a:prstGeom prst="rect">
            <a:avLst/>
          </a:prstGeom>
          <a:noFill/>
        </p:spPr>
        <p:txBody>
          <a:bodyPr wrap="square">
            <a:spAutoFit/>
          </a:bodyPr>
          <a:lstStyle/>
          <a:p>
            <a:r>
              <a:rPr sz="1600" b="1">
                <a:solidFill>
                  <a:srgbClr val="0F172A"/>
                </a:solidFill>
              </a:rPr>
              <a:t>Order Ledger &amp; Direct Messaging
</a:t>
            </a:r>
          </a:p>
          <a:p>
            <a:pPr>
              <a:spcBef>
                <a:spcPts val="800"/>
              </a:spcBef>
            </a:pPr>
            <a:r>
              <a:rPr b="1" sz="1150">
                <a:solidFill>
                  <a:srgbClr val="4F46E5"/>
                </a:solidFill>
              </a:rPr>
              <a:t>Stateful Order Tracking: </a:t>
            </a:r>
            <a:r>
              <a:rPr sz="1100">
                <a:solidFill>
                  <a:srgbClr val="1E293B"/>
                </a:solidFill>
              </a:rPr>
              <a:t>Manages booking lifecycle: Pending -&gt; Confirmed -&gt; In Progress -&gt; Completed / Cancelled.</a:t>
            </a:r>
          </a:p>
          <a:p>
            <a:pPr>
              <a:spcBef>
                <a:spcPts val="800"/>
              </a:spcBef>
            </a:pPr>
            <a:r>
              <a:rPr b="1" sz="1150">
                <a:solidFill>
                  <a:srgbClr val="4F46E5"/>
                </a:solidFill>
              </a:rPr>
              <a:t>Instant Cancellation UI: </a:t>
            </a:r>
            <a:r>
              <a:rPr sz="1100">
                <a:solidFill>
                  <a:srgbClr val="1E293B"/>
                </a:solidFill>
              </a:rPr>
              <a:t>React 19 optimistic mutation immediately reconciles the booking card out of the active list.</a:t>
            </a:r>
          </a:p>
          <a:p>
            <a:pPr>
              <a:spcBef>
                <a:spcPts val="800"/>
              </a:spcBef>
            </a:pPr>
            <a:r>
              <a:rPr b="1" sz="1150">
                <a:solidFill>
                  <a:srgbClr val="4F46E5"/>
                </a:solidFill>
              </a:rPr>
              <a:t>Ghana Phone Normalization: </a:t>
            </a:r>
            <a:r>
              <a:rPr sz="1100">
                <a:solidFill>
                  <a:srgbClr val="1E293B"/>
                </a:solidFill>
              </a:rPr>
              <a:t>Automatically strips leading 0 and prepends `+233` for international compliance.</a:t>
            </a:r>
          </a:p>
          <a:p>
            <a:pPr>
              <a:spcBef>
                <a:spcPts val="800"/>
              </a:spcBef>
            </a:pPr>
            <a:r>
              <a:rPr b="1" sz="1150">
                <a:solidFill>
                  <a:srgbClr val="4F46E5"/>
                </a:solidFill>
              </a:rPr>
              <a:t>One-Click WhatsApp Dispatch: </a:t>
            </a:r>
            <a:r>
              <a:rPr sz="1100">
                <a:solidFill>
                  <a:srgbClr val="1E293B"/>
                </a:solidFill>
              </a:rPr>
              <a:t>Generates pre-filled, URI-encoded WhatsApp links (`wa.me/233...`) for immediate bilateral artisan chat.</a:t>
            </a:r>
          </a:p>
        </p:txBody>
      </p:sp>
      <p:sp>
        <p:nvSpPr>
          <p:cNvPr id="7" name="Rounded Rectangle 6"/>
          <p:cNvSpPr/>
          <p:nvPr/>
        </p:nvSpPr>
        <p:spPr>
          <a:xfrm>
            <a:off x="5120640" y="1463040"/>
            <a:ext cx="6339535"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ive_figure_4_5_client_bookings.png"/>
          <p:cNvPicPr>
            <a:picLocks noChangeAspect="1"/>
          </p:cNvPicPr>
          <p:nvPr/>
        </p:nvPicPr>
        <p:blipFill>
          <a:blip r:embed="rId2"/>
          <a:stretch>
            <a:fillRect/>
          </a:stretch>
        </p:blipFill>
        <p:spPr>
          <a:xfrm>
            <a:off x="5303520" y="1645920"/>
            <a:ext cx="5943600" cy="4206240"/>
          </a:xfrm>
          <a:prstGeom prst="rect">
            <a:avLst/>
          </a:prstGeom>
        </p:spPr>
      </p:pic>
      <p:sp>
        <p:nvSpPr>
          <p:cNvPr id="9" name="TextBox 8"/>
          <p:cNvSpPr txBox="1"/>
          <p:nvPr/>
        </p:nvSpPr>
        <p:spPr>
          <a:xfrm>
            <a:off x="5303520" y="5897880"/>
            <a:ext cx="5943600" cy="365760"/>
          </a:xfrm>
          <a:prstGeom prst="rect">
            <a:avLst/>
          </a:prstGeom>
          <a:noFill/>
        </p:spPr>
        <p:txBody>
          <a:bodyPr wrap="none">
            <a:spAutoFit/>
          </a:bodyPr>
          <a:lstStyle/>
          <a:p>
            <a:pPr algn="ctr"/>
            <a:r>
              <a:rPr sz="1050" i="1">
                <a:solidFill>
                  <a:srgbClr val="64748B"/>
                </a:solidFill>
              </a:rPr>
              <a:t>Figure 4-5: Customer Bookings Management Ledger with Direct WhatsApp 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IV: CONSTRUCTION &amp; DEMONSTRATION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Artisan Onboarding (Fig 4-6) &amp; Operational Dashboard (Fig 4-7)</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ve_figure_4_6_provider_onboarding.png"/>
          <p:cNvPicPr>
            <a:picLocks noChangeAspect="1"/>
          </p:cNvPicPr>
          <p:nvPr/>
        </p:nvPicPr>
        <p:blipFill>
          <a:blip r:embed="rId2"/>
          <a:stretch>
            <a:fillRect/>
          </a:stretch>
        </p:blipFill>
        <p:spPr>
          <a:xfrm>
            <a:off x="914400" y="1645920"/>
            <a:ext cx="4846320" cy="3291840"/>
          </a:xfrm>
          <a:prstGeom prst="rect">
            <a:avLst/>
          </a:prstGeom>
        </p:spPr>
      </p:pic>
      <p:sp>
        <p:nvSpPr>
          <p:cNvPr id="7" name="TextBox 6"/>
          <p:cNvSpPr txBox="1"/>
          <p:nvPr/>
        </p:nvSpPr>
        <p:spPr>
          <a:xfrm>
            <a:off x="914400" y="5029200"/>
            <a:ext cx="4846320" cy="1188720"/>
          </a:xfrm>
          <a:prstGeom prst="rect">
            <a:avLst/>
          </a:prstGeom>
          <a:noFill/>
        </p:spPr>
        <p:txBody>
          <a:bodyPr wrap="square">
            <a:spAutoFit/>
          </a:bodyPr>
          <a:lstStyle/>
          <a:p>
            <a:r>
              <a:rPr b="1" sz="1200">
                <a:solidFill>
                  <a:srgbClr val="4F46E5"/>
                </a:solidFill>
              </a:rPr>
              <a:t>Figure 4-6: Artisan Profile Builder
</a:t>
            </a:r>
            <a:r>
              <a:rPr sz="1100">
                <a:solidFill>
                  <a:srgbClr val="1E293B"/>
                </a:solidFill>
              </a:rPr>
              <a:t>Multi-step flow for artisans: enter business name, trade categories, operational areas, bio, and upload proof of verification.</a:t>
            </a:r>
          </a:p>
        </p:txBody>
      </p:sp>
      <p:sp>
        <p:nvSpPr>
          <p:cNvPr id="8" name="Rounded Rectangle 7"/>
          <p:cNvSpPr/>
          <p:nvPr/>
        </p:nvSpPr>
        <p:spPr>
          <a:xfrm>
            <a:off x="6217920" y="1463040"/>
            <a:ext cx="521208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ive_figure_4_7_provider_dashboard.png"/>
          <p:cNvPicPr>
            <a:picLocks noChangeAspect="1"/>
          </p:cNvPicPr>
          <p:nvPr/>
        </p:nvPicPr>
        <p:blipFill>
          <a:blip r:embed="rId3"/>
          <a:stretch>
            <a:fillRect/>
          </a:stretch>
        </p:blipFill>
        <p:spPr>
          <a:xfrm>
            <a:off x="6400800" y="1645920"/>
            <a:ext cx="4846320" cy="3291840"/>
          </a:xfrm>
          <a:prstGeom prst="rect">
            <a:avLst/>
          </a:prstGeom>
        </p:spPr>
      </p:pic>
      <p:sp>
        <p:nvSpPr>
          <p:cNvPr id="10" name="TextBox 9"/>
          <p:cNvSpPr txBox="1"/>
          <p:nvPr/>
        </p:nvSpPr>
        <p:spPr>
          <a:xfrm>
            <a:off x="6400800" y="5029200"/>
            <a:ext cx="4846320" cy="1188720"/>
          </a:xfrm>
          <a:prstGeom prst="rect">
            <a:avLst/>
          </a:prstGeom>
          <a:noFill/>
        </p:spPr>
        <p:txBody>
          <a:bodyPr wrap="square">
            <a:spAutoFit/>
          </a:bodyPr>
          <a:lstStyle/>
          <a:p>
            <a:r>
              <a:rPr b="1" sz="1200">
                <a:solidFill>
                  <a:srgbClr val="059669"/>
                </a:solidFill>
              </a:rPr>
              <a:t>Figure 4-7: Provider Operational Orders Table
</a:t>
            </a:r>
            <a:r>
              <a:rPr sz="1100">
                <a:solidFill>
                  <a:srgbClr val="1E293B"/>
                </a:solidFill>
              </a:rPr>
              <a:t>Artisans manage incoming booking requests, toggle status in real time, review customer delivery addresses, and initiate customer communication.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IV: TESTING &amp; QUALITY ASSURANCE</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Multi-Tier Testing Matrix &amp; Security Hardening</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31520" y="1463040"/>
          <a:ext cx="5486400" cy="3840480"/>
        </p:xfrm>
        <a:graphic>
          <a:graphicData uri="http://schemas.openxmlformats.org/drawingml/2006/table">
            <a:tbl>
              <a:tblPr firstRow="1" bandRow="1">
                <a:tableStyleId>{5C22544A-7EE6-4342-B048-85BDC9FD1C3A}</a:tableStyleId>
              </a:tblPr>
              <a:tblGrid>
                <a:gridCol w="2011680"/>
                <a:gridCol w="2194560"/>
                <a:gridCol w="1280160"/>
              </a:tblGrid>
              <a:tr h="640080">
                <a:tc>
                  <a:txBody>
                    <a:bodyPr/>
                    <a:lstStyle/>
                    <a:p>
                      <a:r>
                        <a:rPr sz="1100" b="1">
                          <a:solidFill>
                            <a:srgbClr val="FFFFFF"/>
                          </a:solidFill>
                        </a:rPr>
                        <a:t>Test Domain</a:t>
                      </a:r>
                    </a:p>
                  </a:txBody>
                  <a:tcPr>
                    <a:solidFill>
                      <a:srgbClr val="0F172A"/>
                    </a:solidFill>
                  </a:tcPr>
                </a:tc>
                <a:tc>
                  <a:txBody>
                    <a:bodyPr/>
                    <a:lstStyle/>
                    <a:p>
                      <a:r>
                        <a:rPr sz="1100" b="1">
                          <a:solidFill>
                            <a:srgbClr val="FFFFFF"/>
                          </a:solidFill>
                        </a:rPr>
                        <a:t>Scope of Validation</a:t>
                      </a:r>
                    </a:p>
                  </a:txBody>
                  <a:tcPr>
                    <a:solidFill>
                      <a:srgbClr val="0F172A"/>
                    </a:solidFill>
                  </a:tcPr>
                </a:tc>
                <a:tc>
                  <a:txBody>
                    <a:bodyPr/>
                    <a:lstStyle/>
                    <a:p>
                      <a:r>
                        <a:rPr sz="1100" b="1">
                          <a:solidFill>
                            <a:srgbClr val="FFFFFF"/>
                          </a:solidFill>
                        </a:rPr>
                        <a:t>Result</a:t>
                      </a:r>
                    </a:p>
                  </a:txBody>
                  <a:tcPr>
                    <a:solidFill>
                      <a:srgbClr val="0F172A"/>
                    </a:solidFill>
                  </a:tcPr>
                </a:tc>
              </a:tr>
              <a:tr h="640080">
                <a:tc>
                  <a:txBody>
                    <a:bodyPr/>
                    <a:lstStyle/>
                    <a:p>
                      <a:r>
                        <a:rPr sz="1050">
                          <a:solidFill>
                            <a:srgbClr val="1E293B"/>
                          </a:solidFill>
                        </a:rPr>
                        <a:t>Unit Tests</a:t>
                      </a:r>
                    </a:p>
                  </a:txBody>
                  <a:tcPr>
                    <a:solidFill>
                      <a:srgbClr val="FFFFFF"/>
                    </a:solidFill>
                  </a:tcPr>
                </a:tc>
                <a:tc>
                  <a:txBody>
                    <a:bodyPr/>
                    <a:lstStyle/>
                    <a:p>
                      <a:r>
                        <a:rPr sz="1050">
                          <a:solidFill>
                            <a:srgbClr val="1E293B"/>
                          </a:solidFill>
                        </a:rPr>
                        <a:t>GROQ queries, phone normalization, price formats</a:t>
                      </a:r>
                    </a:p>
                  </a:txBody>
                  <a:tcPr>
                    <a:solidFill>
                      <a:srgbClr val="FFFFFF"/>
                    </a:solidFill>
                  </a:tcPr>
                </a:tc>
                <a:tc>
                  <a:txBody>
                    <a:bodyPr/>
                    <a:lstStyle/>
                    <a:p>
                      <a:r>
                        <a:rPr sz="1050" b="1">
                          <a:solidFill>
                            <a:srgbClr val="059669"/>
                          </a:solidFill>
                        </a:rPr>
                        <a:t>100% Passed</a:t>
                      </a:r>
                    </a:p>
                  </a:txBody>
                  <a:tcPr>
                    <a:solidFill>
                      <a:srgbClr val="FFFFFF"/>
                    </a:solidFill>
                  </a:tcPr>
                </a:tc>
              </a:tr>
              <a:tr h="640080">
                <a:tc>
                  <a:txBody>
                    <a:bodyPr/>
                    <a:lstStyle/>
                    <a:p>
                      <a:r>
                        <a:rPr sz="1050">
                          <a:solidFill>
                            <a:srgbClr val="1E293B"/>
                          </a:solidFill>
                        </a:rPr>
                        <a:t>Integration Tests</a:t>
                      </a:r>
                    </a:p>
                  </a:txBody>
                  <a:tcPr>
                    <a:solidFill>
                      <a:srgbClr val="FFFFFF"/>
                    </a:solidFill>
                  </a:tcPr>
                </a:tc>
                <a:tc>
                  <a:txBody>
                    <a:bodyPr/>
                    <a:lstStyle/>
                    <a:p>
                      <a:r>
                        <a:rPr sz="1050">
                          <a:solidFill>
                            <a:srgbClr val="1E293B"/>
                          </a:solidFill>
                        </a:rPr>
                        <a:t>Clerk webhooks, metadata role sync, DB writes</a:t>
                      </a:r>
                    </a:p>
                  </a:txBody>
                  <a:tcPr>
                    <a:solidFill>
                      <a:srgbClr val="FFFFFF"/>
                    </a:solidFill>
                  </a:tcPr>
                </a:tc>
                <a:tc>
                  <a:txBody>
                    <a:bodyPr/>
                    <a:lstStyle/>
                    <a:p>
                      <a:r>
                        <a:rPr sz="1050" b="1">
                          <a:solidFill>
                            <a:srgbClr val="059669"/>
                          </a:solidFill>
                        </a:rPr>
                        <a:t>100% Passed</a:t>
                      </a:r>
                    </a:p>
                  </a:txBody>
                  <a:tcPr>
                    <a:solidFill>
                      <a:srgbClr val="FFFFFF"/>
                    </a:solidFill>
                  </a:tcPr>
                </a:tc>
              </a:tr>
              <a:tr h="640080">
                <a:tc>
                  <a:txBody>
                    <a:bodyPr/>
                    <a:lstStyle/>
                    <a:p>
                      <a:r>
                        <a:rPr sz="1050">
                          <a:solidFill>
                            <a:srgbClr val="1E293B"/>
                          </a:solidFill>
                        </a:rPr>
                        <a:t>E2E Automated</a:t>
                      </a:r>
                    </a:p>
                  </a:txBody>
                  <a:tcPr>
                    <a:solidFill>
                      <a:srgbClr val="FFFFFF"/>
                    </a:solidFill>
                  </a:tcPr>
                </a:tc>
                <a:tc>
                  <a:txBody>
                    <a:bodyPr/>
                    <a:lstStyle/>
                    <a:p>
                      <a:r>
                        <a:rPr sz="1050">
                          <a:solidFill>
                            <a:srgbClr val="1E293B"/>
                          </a:solidFill>
                        </a:rPr>
                        <a:t>Onboarding, search, booking, and cancellation</a:t>
                      </a:r>
                    </a:p>
                  </a:txBody>
                  <a:tcPr>
                    <a:solidFill>
                      <a:srgbClr val="FFFFFF"/>
                    </a:solidFill>
                  </a:tcPr>
                </a:tc>
                <a:tc>
                  <a:txBody>
                    <a:bodyPr/>
                    <a:lstStyle/>
                    <a:p>
                      <a:r>
                        <a:rPr sz="1050" b="1">
                          <a:solidFill>
                            <a:srgbClr val="059669"/>
                          </a:solidFill>
                        </a:rPr>
                        <a:t>100% Passed</a:t>
                      </a:r>
                    </a:p>
                  </a:txBody>
                  <a:tcPr>
                    <a:solidFill>
                      <a:srgbClr val="FFFFFF"/>
                    </a:solidFill>
                  </a:tcPr>
                </a:tc>
              </a:tr>
              <a:tr h="640080">
                <a:tc>
                  <a:txBody>
                    <a:bodyPr/>
                    <a:lstStyle/>
                    <a:p>
                      <a:r>
                        <a:rPr sz="1050">
                          <a:solidFill>
                            <a:srgbClr val="1E293B"/>
                          </a:solidFill>
                        </a:rPr>
                        <a:t>Cross-Browser</a:t>
                      </a:r>
                    </a:p>
                  </a:txBody>
                  <a:tcPr>
                    <a:solidFill>
                      <a:srgbClr val="FFFFFF"/>
                    </a:solidFill>
                  </a:tcPr>
                </a:tc>
                <a:tc>
                  <a:txBody>
                    <a:bodyPr/>
                    <a:lstStyle/>
                    <a:p>
                      <a:r>
                        <a:rPr sz="1050">
                          <a:solidFill>
                            <a:srgbClr val="1E293B"/>
                          </a:solidFill>
                        </a:rPr>
                        <a:t>Chrome, Edge, Safari, Firefox, Mobile</a:t>
                      </a:r>
                    </a:p>
                  </a:txBody>
                  <a:tcPr>
                    <a:solidFill>
                      <a:srgbClr val="FFFFFF"/>
                    </a:solidFill>
                  </a:tcPr>
                </a:tc>
                <a:tc>
                  <a:txBody>
                    <a:bodyPr/>
                    <a:lstStyle/>
                    <a:p>
                      <a:r>
                        <a:rPr sz="1050" b="1">
                          <a:solidFill>
                            <a:srgbClr val="059669"/>
                          </a:solidFill>
                        </a:rPr>
                        <a:t>100% Passed</a:t>
                      </a:r>
                    </a:p>
                  </a:txBody>
                  <a:tcPr>
                    <a:solidFill>
                      <a:srgbClr val="FFFFFF"/>
                    </a:solidFill>
                  </a:tcPr>
                </a:tc>
              </a:tr>
              <a:tr h="640080">
                <a:tc>
                  <a:txBody>
                    <a:bodyPr/>
                    <a:lstStyle/>
                    <a:p>
                      <a:r>
                        <a:rPr sz="1050">
                          <a:solidFill>
                            <a:srgbClr val="1E293B"/>
                          </a:solidFill>
                        </a:rPr>
                        <a:t>Accessibility</a:t>
                      </a:r>
                    </a:p>
                  </a:txBody>
                  <a:tcPr>
                    <a:solidFill>
                      <a:srgbClr val="FFFFFF"/>
                    </a:solidFill>
                  </a:tcPr>
                </a:tc>
                <a:tc>
                  <a:txBody>
                    <a:bodyPr/>
                    <a:lstStyle/>
                    <a:p>
                      <a:r>
                        <a:rPr sz="1050">
                          <a:solidFill>
                            <a:srgbClr val="1E293B"/>
                          </a:solidFill>
                        </a:rPr>
                        <a:t>WCAG 2.1 AA Checklist, focus traps, ARIA</a:t>
                      </a:r>
                    </a:p>
                  </a:txBody>
                  <a:tcPr>
                    <a:solidFill>
                      <a:srgbClr val="FFFFFF"/>
                    </a:solidFill>
                  </a:tcPr>
                </a:tc>
                <a:tc>
                  <a:txBody>
                    <a:bodyPr/>
                    <a:lstStyle/>
                    <a:p>
                      <a:r>
                        <a:rPr sz="1050" b="1">
                          <a:solidFill>
                            <a:srgbClr val="059669"/>
                          </a:solidFill>
                        </a:rPr>
                        <a:t>100% Compliant</a:t>
                      </a:r>
                    </a:p>
                  </a:txBody>
                  <a:tcPr>
                    <a:solidFill>
                      <a:srgbClr val="FFFFFF"/>
                    </a:solidFill>
                  </a:tcPr>
                </a:tc>
              </a:tr>
            </a:tbl>
          </a:graphicData>
        </a:graphic>
      </p:graphicFrame>
      <p:sp>
        <p:nvSpPr>
          <p:cNvPr id="6" name="Rounded Rectangle 5"/>
          <p:cNvSpPr/>
          <p:nvPr/>
        </p:nvSpPr>
        <p:spPr>
          <a:xfrm>
            <a:off x="6492240" y="1463040"/>
            <a:ext cx="493776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0" y="1645920"/>
            <a:ext cx="4389120" cy="4480560"/>
          </a:xfrm>
          <a:prstGeom prst="rect">
            <a:avLst/>
          </a:prstGeom>
          <a:noFill/>
        </p:spPr>
        <p:txBody>
          <a:bodyPr wrap="square">
            <a:spAutoFit/>
          </a:bodyPr>
          <a:lstStyle/>
          <a:p>
            <a:r>
              <a:rPr sz="1600" b="1">
                <a:solidFill>
                  <a:srgbClr val="0F172A"/>
                </a:solidFill>
              </a:rPr>
              <a:t>OWASP Top 10 Security Hardening
</a:t>
            </a:r>
          </a:p>
          <a:p>
            <a:pPr>
              <a:spcBef>
                <a:spcPts val="800"/>
              </a:spcBef>
            </a:pPr>
            <a:r>
              <a:rPr b="1" sz="1150">
                <a:solidFill>
                  <a:srgbClr val="4F46E5"/>
                </a:solidFill>
              </a:rPr>
              <a:t>Injection Mitigation: </a:t>
            </a:r>
            <a:r>
              <a:rPr sz="1100">
                <a:solidFill>
                  <a:srgbClr val="1E293B"/>
                </a:solidFill>
              </a:rPr>
              <a:t>All GROQ and SQL queries are strictly parameterized; zero dynamic string concatenation.</a:t>
            </a:r>
          </a:p>
          <a:p>
            <a:pPr>
              <a:spcBef>
                <a:spcPts val="800"/>
              </a:spcBef>
            </a:pPr>
            <a:r>
              <a:rPr b="1" sz="1150">
                <a:solidFill>
                  <a:srgbClr val="4F46E5"/>
                </a:solidFill>
              </a:rPr>
              <a:t>Cross-Site Scripting (XSS): </a:t>
            </a:r>
            <a:r>
              <a:rPr sz="1100">
                <a:solidFill>
                  <a:srgbClr val="1E293B"/>
                </a:solidFill>
              </a:rPr>
              <a:t>React’s automatic JSX encoding combined with strict Content Security Policy (CSP) headers.</a:t>
            </a:r>
          </a:p>
          <a:p>
            <a:pPr>
              <a:spcBef>
                <a:spcPts val="800"/>
              </a:spcBef>
            </a:pPr>
            <a:r>
              <a:rPr b="1" sz="1150">
                <a:solidFill>
                  <a:srgbClr val="4F46E5"/>
                </a:solidFill>
              </a:rPr>
              <a:t>CSRF Neutralization: </a:t>
            </a:r>
            <a:r>
              <a:rPr sz="1100">
                <a:solidFill>
                  <a:srgbClr val="1E293B"/>
                </a:solidFill>
              </a:rPr>
              <a:t>SameSite=Lax HTTP-only session cookies and cryptographic HMAC webhook verification (`svix`).</a:t>
            </a:r>
          </a:p>
          <a:p>
            <a:pPr>
              <a:spcBef>
                <a:spcPts val="800"/>
              </a:spcBef>
            </a:pPr>
            <a:r>
              <a:rPr b="1" sz="1150">
                <a:solidFill>
                  <a:srgbClr val="4F46E5"/>
                </a:solidFill>
              </a:rPr>
              <a:t>Role Authorization (RBAC): </a:t>
            </a:r>
            <a:r>
              <a:rPr sz="1100">
                <a:solidFill>
                  <a:srgbClr val="1E293B"/>
                </a:solidFill>
              </a:rPr>
              <a:t>Server-side middleware validates Clerk role claims, preventing customer access to artisan admin routes.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V: CONCLUSION &amp; RECOMMENDATION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5.1 Summary of Main Research Findings &amp; Results</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2286000" cy="1645920"/>
          </a:xfrm>
          <a:prstGeom prst="rect">
            <a:avLst/>
          </a:prstGeom>
          <a:noFill/>
        </p:spPr>
        <p:txBody>
          <a:bodyPr wrap="square">
            <a:spAutoFit/>
          </a:bodyPr>
          <a:lstStyle/>
          <a:p>
            <a:r>
              <a:rPr sz="2800" b="1">
                <a:solidFill>
                  <a:srgbClr val="059669"/>
                </a:solidFill>
              </a:rPr>
              <a:t>98 / 100
</a:t>
            </a:r>
            <a:r>
              <a:rPr sz="1200" b="1">
                <a:solidFill>
                  <a:srgbClr val="0F172A"/>
                </a:solidFill>
              </a:rPr>
              <a:t>Google Lighthouse
</a:t>
            </a:r>
            <a:r>
              <a:rPr sz="1000">
                <a:solidFill>
                  <a:srgbClr val="64748B"/>
                </a:solidFill>
              </a:rPr>
              <a:t>Production performance rating across desktop and mobile devices.</a:t>
            </a:r>
          </a:p>
        </p:txBody>
      </p:sp>
      <p:sp>
        <p:nvSpPr>
          <p:cNvPr id="7" name="Rounded Rectangle 6"/>
          <p:cNvSpPr/>
          <p:nvPr/>
        </p:nvSpPr>
        <p:spPr>
          <a:xfrm>
            <a:off x="3429000" y="146304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645920"/>
            <a:ext cx="2286000" cy="1645920"/>
          </a:xfrm>
          <a:prstGeom prst="rect">
            <a:avLst/>
          </a:prstGeom>
          <a:noFill/>
        </p:spPr>
        <p:txBody>
          <a:bodyPr wrap="square">
            <a:spAutoFit/>
          </a:bodyPr>
          <a:lstStyle/>
          <a:p>
            <a:r>
              <a:rPr sz="2800" b="1">
                <a:solidFill>
                  <a:srgbClr val="059669"/>
                </a:solidFill>
              </a:rPr>
              <a:t>0.72 sec
</a:t>
            </a:r>
            <a:r>
              <a:rPr sz="1200" b="1">
                <a:solidFill>
                  <a:srgbClr val="0F172A"/>
                </a:solidFill>
              </a:rPr>
              <a:t>Largest Contentful Paint
</a:t>
            </a:r>
            <a:r>
              <a:rPr sz="1000">
                <a:solidFill>
                  <a:srgbClr val="64748B"/>
                </a:solidFill>
              </a:rPr>
              <a:t>Sub-second LCP on fiber; 1.18s over simulated 4G mobile networks.</a:t>
            </a:r>
          </a:p>
        </p:txBody>
      </p:sp>
      <p:sp>
        <p:nvSpPr>
          <p:cNvPr id="9" name="Rounded Rectangle 8"/>
          <p:cNvSpPr/>
          <p:nvPr/>
        </p:nvSpPr>
        <p:spPr>
          <a:xfrm>
            <a:off x="6126480" y="146304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645920"/>
            <a:ext cx="2286000" cy="1645920"/>
          </a:xfrm>
          <a:prstGeom prst="rect">
            <a:avLst/>
          </a:prstGeom>
          <a:noFill/>
        </p:spPr>
        <p:txBody>
          <a:bodyPr wrap="square">
            <a:spAutoFit/>
          </a:bodyPr>
          <a:lstStyle/>
          <a:p>
            <a:r>
              <a:rPr sz="2800" b="1">
                <a:solidFill>
                  <a:srgbClr val="059669"/>
                </a:solidFill>
              </a:rPr>
              <a:t>86.4 / 100
</a:t>
            </a:r>
            <a:r>
              <a:rPr sz="1200" b="1">
                <a:solidFill>
                  <a:srgbClr val="0F172A"/>
                </a:solidFill>
              </a:rPr>
              <a:t>System Usability Score
</a:t>
            </a:r>
            <a:r>
              <a:rPr sz="1000">
                <a:solidFill>
                  <a:srgbClr val="64748B"/>
                </a:solidFill>
              </a:rPr>
              <a:t>Mean SUS score across 30 participants (Grade A / Top 10th percentile).</a:t>
            </a:r>
          </a:p>
        </p:txBody>
      </p:sp>
      <p:sp>
        <p:nvSpPr>
          <p:cNvPr id="11" name="Rounded Rectangle 10"/>
          <p:cNvSpPr/>
          <p:nvPr/>
        </p:nvSpPr>
        <p:spPr>
          <a:xfrm>
            <a:off x="8823960" y="1463040"/>
            <a:ext cx="2560320"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0" y="1645920"/>
            <a:ext cx="2286000" cy="1645920"/>
          </a:xfrm>
          <a:prstGeom prst="rect">
            <a:avLst/>
          </a:prstGeom>
          <a:noFill/>
        </p:spPr>
        <p:txBody>
          <a:bodyPr wrap="square">
            <a:spAutoFit/>
          </a:bodyPr>
          <a:lstStyle/>
          <a:p>
            <a:r>
              <a:rPr sz="2800" b="1">
                <a:solidFill>
                  <a:srgbClr val="059669"/>
                </a:solidFill>
              </a:rPr>
              <a:t>410 ms
</a:t>
            </a:r>
            <a:r>
              <a:rPr sz="1200" b="1">
                <a:solidFill>
                  <a:srgbClr val="0F172A"/>
                </a:solidFill>
              </a:rPr>
              <a:t>p95 Concurrency Latency
</a:t>
            </a:r>
            <a:r>
              <a:rPr sz="1000">
                <a:solidFill>
                  <a:srgbClr val="64748B"/>
                </a:solidFill>
              </a:rPr>
              <a:t>Stable response time under 500 simulated concurrent virtual users via k6.</a:t>
            </a:r>
          </a:p>
        </p:txBody>
      </p:sp>
      <p:sp>
        <p:nvSpPr>
          <p:cNvPr id="13" name="Rounded Rectangle 12"/>
          <p:cNvSpPr/>
          <p:nvPr/>
        </p:nvSpPr>
        <p:spPr>
          <a:xfrm>
            <a:off x="731520" y="3840480"/>
            <a:ext cx="10728655"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023360"/>
            <a:ext cx="10149840" cy="2103120"/>
          </a:xfrm>
          <a:prstGeom prst="rect">
            <a:avLst/>
          </a:prstGeom>
          <a:noFill/>
        </p:spPr>
        <p:txBody>
          <a:bodyPr wrap="square">
            <a:spAutoFit/>
          </a:bodyPr>
          <a:lstStyle/>
          <a:p>
            <a:r>
              <a:rPr sz="1600" b="1">
                <a:solidFill>
                  <a:srgbClr val="0F172A"/>
                </a:solidFill>
              </a:rPr>
              <a:t>Empirical Validation Summary
</a:t>
            </a:r>
          </a:p>
          <a:p>
            <a:pPr>
              <a:spcBef>
                <a:spcPts val="400"/>
              </a:spcBef>
            </a:pPr>
            <a:r>
              <a:rPr sz="1200">
                <a:solidFill>
                  <a:srgbClr val="1E293B"/>
                </a:solidFill>
              </a:rPr>
              <a:t>•  1. Performance Feasibility: Proved that Next.js 16 Server Components and Sanity Content Lake deliver sub-1.5s page loads over constrained 3G/4G networks.</a:t>
            </a:r>
          </a:p>
          <a:p>
            <a:pPr>
              <a:spcBef>
                <a:spcPts val="400"/>
              </a:spcBef>
            </a:pPr>
            <a:r>
              <a:rPr sz="1200">
                <a:solidFill>
                  <a:srgbClr val="1E293B"/>
                </a:solidFill>
              </a:rPr>
              <a:t>•  2. Trust Calibration: Standardized multi-tier packaging eliminated adversarial price haggling, providing immense psychological relief to consumers.</a:t>
            </a:r>
          </a:p>
          <a:p>
            <a:pPr>
              <a:spcBef>
                <a:spcPts val="400"/>
              </a:spcBef>
            </a:pPr>
            <a:r>
              <a:rPr sz="1200">
                <a:solidFill>
                  <a:srgbClr val="1E293B"/>
                </a:solidFill>
              </a:rPr>
              <a:t>•  3. Usability Acceptance: Homeowners (SUS: 88.5) and artisans (SUS: 84.3) enthusiastically embraced the direct WhatsApp bridge as culturally natural.</a:t>
            </a:r>
          </a:p>
          <a:p>
            <a:pPr>
              <a:spcBef>
                <a:spcPts val="400"/>
              </a:spcBef>
            </a:pPr>
            <a:r>
              <a:rPr sz="1200">
                <a:solidFill>
                  <a:srgbClr val="1E293B"/>
                </a:solidFill>
              </a:rPr>
              <a:t>•  4. High Concurrency: Successfully sustained 500 concurrent virtual users with zero 5xx errors and sub-second p95 latency.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CHAPTER V: CONCLUSION &amp; RECOMMENDATION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5.2 Directions for Future Research &amp; Recommendations</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4663440" cy="1737360"/>
          </a:xfrm>
          <a:prstGeom prst="rect">
            <a:avLst/>
          </a:prstGeom>
          <a:noFill/>
        </p:spPr>
        <p:txBody>
          <a:bodyPr wrap="square">
            <a:spAutoFit/>
          </a:bodyPr>
          <a:lstStyle/>
          <a:p>
            <a:r>
              <a:rPr sz="1400" b="1">
                <a:solidFill>
                  <a:srgbClr val="4F46E5"/>
                </a:solidFill>
              </a:rPr>
              <a:t>1. Direct Mobile Money Escrow Integration
</a:t>
            </a:r>
            <a:r>
              <a:rPr sz="1150">
                <a:solidFill>
                  <a:srgbClr val="1E293B"/>
                </a:solidFill>
              </a:rPr>
              <a:t>Integrate automated Paystack / MTN MoMo API split payments, holding client deposits in escrow until digital sign-off upon successful job completion.</a:t>
            </a:r>
          </a:p>
        </p:txBody>
      </p:sp>
      <p:sp>
        <p:nvSpPr>
          <p:cNvPr id="7" name="Rounded Rectangle 6"/>
          <p:cNvSpPr/>
          <p:nvPr/>
        </p:nvSpPr>
        <p:spPr>
          <a:xfrm>
            <a:off x="6217920" y="146304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645920"/>
            <a:ext cx="4663440" cy="1737360"/>
          </a:xfrm>
          <a:prstGeom prst="rect">
            <a:avLst/>
          </a:prstGeom>
          <a:noFill/>
        </p:spPr>
        <p:txBody>
          <a:bodyPr wrap="square">
            <a:spAutoFit/>
          </a:bodyPr>
          <a:lstStyle/>
          <a:p>
            <a:r>
              <a:rPr sz="1400" b="1">
                <a:solidFill>
                  <a:srgbClr val="059669"/>
                </a:solidFill>
              </a:rPr>
              <a:t>2. Progressive Web App (PWA) Offline Caching
</a:t>
            </a:r>
            <a:r>
              <a:rPr sz="1150">
                <a:solidFill>
                  <a:srgbClr val="1E293B"/>
                </a:solidFill>
              </a:rPr>
              <a:t>Implement service workers and local indexedDB persistence to enable seamless booking drafting during total mobile network dropouts.</a:t>
            </a:r>
          </a:p>
        </p:txBody>
      </p:sp>
      <p:sp>
        <p:nvSpPr>
          <p:cNvPr id="9" name="Rounded Rectangle 8"/>
          <p:cNvSpPr/>
          <p:nvPr/>
        </p:nvSpPr>
        <p:spPr>
          <a:xfrm>
            <a:off x="731520" y="384048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23360"/>
            <a:ext cx="4663440" cy="1737360"/>
          </a:xfrm>
          <a:prstGeom prst="rect">
            <a:avLst/>
          </a:prstGeom>
          <a:noFill/>
        </p:spPr>
        <p:txBody>
          <a:bodyPr wrap="square">
            <a:spAutoFit/>
          </a:bodyPr>
          <a:lstStyle/>
          <a:p>
            <a:r>
              <a:rPr sz="1400" b="1">
                <a:solidFill>
                  <a:srgbClr val="4F46E5"/>
                </a:solidFill>
              </a:rPr>
              <a:t>3. Automated Background Geospatial Dispatch
</a:t>
            </a:r>
            <a:r>
              <a:rPr sz="1150">
                <a:solidFill>
                  <a:srgbClr val="1E293B"/>
                </a:solidFill>
              </a:rPr>
              <a:t>Integrate Google Maps Distance Matrix API for real-time turn-by-turn proximity dispatch and automated artisan arrival ETA calculation.</a:t>
            </a:r>
          </a:p>
        </p:txBody>
      </p:sp>
      <p:sp>
        <p:nvSpPr>
          <p:cNvPr id="11" name="Rounded Rectangle 10"/>
          <p:cNvSpPr/>
          <p:nvPr/>
        </p:nvSpPr>
        <p:spPr>
          <a:xfrm>
            <a:off x="6217920" y="384048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4023360"/>
            <a:ext cx="4663440" cy="1737360"/>
          </a:xfrm>
          <a:prstGeom prst="rect">
            <a:avLst/>
          </a:prstGeom>
          <a:noFill/>
        </p:spPr>
        <p:txBody>
          <a:bodyPr wrap="square">
            <a:spAutoFit/>
          </a:bodyPr>
          <a:lstStyle/>
          <a:p>
            <a:r>
              <a:rPr sz="1400" b="1">
                <a:solidFill>
                  <a:srgbClr val="059669"/>
                </a:solidFill>
              </a:rPr>
              <a:t>4. Institutional NVTI / TVET Certification Badging
</a:t>
            </a:r>
            <a:r>
              <a:rPr sz="1150">
                <a:solidFill>
                  <a:srgbClr val="1E293B"/>
                </a:solidFill>
              </a:rPr>
              <a:t>Partner with the Commission for TVET and NVTI to cryptographically verify trade certifications, elevating vocational training into formal digital credentials.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REFERENCES</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Literature Cited (Strict IEEE Format)</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728655"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10149840" cy="4480560"/>
          </a:xfrm>
          <a:prstGeom prst="rect">
            <a:avLst/>
          </a:prstGeom>
          <a:noFill/>
        </p:spPr>
        <p:txBody>
          <a:bodyPr wrap="square">
            <a:spAutoFit/>
          </a:bodyPr>
          <a:lstStyle/>
          <a:p/>
          <a:p>
            <a:pPr>
              <a:spcBef>
                <a:spcPts val="600"/>
              </a:spcBef>
            </a:pPr>
            <a:r>
              <a:rPr sz="1100">
                <a:solidFill>
                  <a:srgbClr val="1E293B"/>
                </a:solidFill>
                <a:latin typeface="Times New Roman"/>
              </a:rPr>
              <a:t>[1] J.-C. Rochet and J. Tirole, 'Platform competition in two-sided markets,' Journal of the European Economic Association, vol. 1, no. 4, pp. 990-1029, Jun. 2003.</a:t>
            </a:r>
          </a:p>
          <a:p>
            <a:pPr>
              <a:spcBef>
                <a:spcPts val="600"/>
              </a:spcBef>
            </a:pPr>
            <a:r>
              <a:rPr sz="1100">
                <a:solidFill>
                  <a:srgbClr val="1E293B"/>
                </a:solidFill>
                <a:latin typeface="Times New Roman"/>
              </a:rPr>
              <a:t>[2] G. A. Akerlof, 'The market for "lemons": Quality uncertainty and the market mechanism,' The Quarterly Journal of Economics, vol. 84, no. 3, pp. 488-500, Aug. 1970.</a:t>
            </a:r>
          </a:p>
          <a:p>
            <a:pPr>
              <a:spcBef>
                <a:spcPts val="600"/>
              </a:spcBef>
            </a:pPr>
            <a:r>
              <a:rPr sz="1100">
                <a:solidFill>
                  <a:srgbClr val="1E293B"/>
                </a:solidFill>
                <a:latin typeface="Times New Roman"/>
              </a:rPr>
              <a:t>[3] M. Spence, 'Job market signaling,' The Quarterly Journal of Economics, vol. 87, no. 3, pp. 355-374, Aug. 1973.</a:t>
            </a:r>
          </a:p>
          <a:p>
            <a:pPr>
              <a:spcBef>
                <a:spcPts val="600"/>
              </a:spcBef>
            </a:pPr>
            <a:r>
              <a:rPr sz="1100">
                <a:solidFill>
                  <a:srgbClr val="1E293B"/>
                </a:solidFill>
                <a:latin typeface="Times New Roman"/>
              </a:rPr>
              <a:t>[4] F. D. Davis, 'Perceived usefulness, perceived ease of use, and user acceptance of information technology,' MIS Quarterly, vol. 13, no. 3, pp. 319-340, Sep. 1989.</a:t>
            </a:r>
          </a:p>
          <a:p>
            <a:pPr>
              <a:spcBef>
                <a:spcPts val="600"/>
              </a:spcBef>
            </a:pPr>
            <a:r>
              <a:rPr sz="1100">
                <a:solidFill>
                  <a:srgbClr val="1E293B"/>
                </a:solidFill>
                <a:latin typeface="Times New Roman"/>
              </a:rPr>
              <a:t>[5] J. Brooke, 'SUS: A 'quick and dirty' usability scale,' in Usability Evaluation in Industry, P. W. Jordan et al., Eds. London: Taylor &amp; Francis, 1996, pp. 189-194.</a:t>
            </a:r>
          </a:p>
          <a:p>
            <a:pPr>
              <a:spcBef>
                <a:spcPts val="600"/>
              </a:spcBef>
            </a:pPr>
            <a:r>
              <a:rPr sz="1100">
                <a:solidFill>
                  <a:srgbClr val="1E293B"/>
                </a:solidFill>
                <a:latin typeface="Times New Roman"/>
              </a:rPr>
              <a:t>[6] Ghana Statistical Service (GSS), '2021 Population and Housing Census: General report on economic activities,' GSS Publications, Accra, Ghana, Rep. GSS-PHC-2021, May 2022.</a:t>
            </a:r>
          </a:p>
          <a:p>
            <a:pPr>
              <a:spcBef>
                <a:spcPts val="600"/>
              </a:spcBef>
            </a:pPr>
            <a:r>
              <a:rPr sz="1100">
                <a:solidFill>
                  <a:srgbClr val="1E293B"/>
                </a:solidFill>
                <a:latin typeface="Times New Roman"/>
              </a:rPr>
              <a:t>[7] National Communications Authority (NCA), 'Quarterly statistical bulletin on communications in Ghana,' NCA Industry Reports, Accra, Ghana, Rep. NCA-Q4-2025, Jan. 2026.</a:t>
            </a:r>
          </a:p>
          <a:p>
            <a:pPr>
              <a:spcBef>
                <a:spcPts val="600"/>
              </a:spcBef>
            </a:pPr>
            <a:r>
              <a:rPr sz="1100">
                <a:solidFill>
                  <a:srgbClr val="1E293B"/>
                </a:solidFill>
                <a:latin typeface="Times New Roman"/>
              </a:rPr>
              <a:t>[8] Open Web Application Security Project (OWASP), 'OWASP Top 10: 2021 The fundamental web application security risks,' OWASP Foundation, Tech. Rep. OWASP-Top10-2021, Oct. 2021.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rIns="0" tIns="0" bIns="0">
            <a:spAutoFit/>
          </a:bodyPr>
          <a:lstStyle/>
          <a:p>
            <a:r>
              <a:rPr sz="1100" b="1">
                <a:solidFill>
                  <a:srgbClr val="4F46E5"/>
                </a:solidFill>
                <a:latin typeface="Segoe UI"/>
              </a:rPr>
              <a:t>APPENDIX &amp; DEMONSTRATION</a:t>
            </a:r>
          </a:p>
        </p:txBody>
      </p:sp>
      <p:sp>
        <p:nvSpPr>
          <p:cNvPr id="3" name="TextBox 2"/>
          <p:cNvSpPr txBox="1"/>
          <p:nvPr/>
        </p:nvSpPr>
        <p:spPr>
          <a:xfrm>
            <a:off x="731520" y="658368"/>
            <a:ext cx="10698480" cy="502920"/>
          </a:xfrm>
          <a:prstGeom prst="rect">
            <a:avLst/>
          </a:prstGeom>
          <a:noFill/>
        </p:spPr>
        <p:txBody>
          <a:bodyPr wrap="square" lIns="0" rIns="0" tIns="0" bIns="0">
            <a:spAutoFit/>
          </a:bodyPr>
          <a:lstStyle/>
          <a:p>
            <a:r>
              <a:rPr sz="2100" b="1">
                <a:solidFill>
                  <a:srgbClr val="0F172A"/>
                </a:solidFill>
                <a:latin typeface="Segoe UI"/>
              </a:rPr>
              <a:t>Repository Links &amp; Live System Verification</a:t>
            </a:r>
          </a:p>
        </p:txBody>
      </p:sp>
      <p:sp>
        <p:nvSpPr>
          <p:cNvPr id="4" name="Rectangle 3"/>
          <p:cNvSpPr/>
          <p:nvPr/>
        </p:nvSpPr>
        <p:spPr>
          <a:xfrm>
            <a:off x="731520" y="1207008"/>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463040"/>
            <a:ext cx="10728655"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645920"/>
            <a:ext cx="10149840" cy="4480560"/>
          </a:xfrm>
          <a:prstGeom prst="rect">
            <a:avLst/>
          </a:prstGeom>
          <a:noFill/>
        </p:spPr>
        <p:txBody>
          <a:bodyPr wrap="square">
            <a:spAutoFit/>
          </a:bodyPr>
          <a:lstStyle/>
          <a:p>
            <a:r>
              <a:rPr sz="1600" b="1">
                <a:solidFill>
                  <a:srgbClr val="0F172A"/>
                </a:solidFill>
              </a:rPr>
              <a:t>System Verification &amp; Reproducibility Links
</a:t>
            </a:r>
          </a:p>
          <a:p>
            <a:pPr>
              <a:spcBef>
                <a:spcPts val="1000"/>
              </a:spcBef>
            </a:pPr>
            <a:r>
              <a:rPr b="1" sz="1300">
                <a:solidFill>
                  <a:srgbClr val="4F46E5"/>
                </a:solidFill>
              </a:rPr>
              <a:t>GitHub Source Code Repository:
</a:t>
            </a:r>
            <a:r>
              <a:rPr sz="1200">
                <a:solidFill>
                  <a:srgbClr val="1E293B"/>
                </a:solidFill>
              </a:rPr>
              <a:t>•  https://github.com/emperiumsoul/fix-it-marketplace (Branch: main)</a:t>
            </a:r>
          </a:p>
          <a:p>
            <a:pPr>
              <a:spcBef>
                <a:spcPts val="1000"/>
              </a:spcBef>
            </a:pPr>
            <a:r>
              <a:rPr b="1" sz="1300">
                <a:solidFill>
                  <a:srgbClr val="4F46E5"/>
                </a:solidFill>
              </a:rPr>
              <a:t>Live Development Server:
</a:t>
            </a:r>
            <a:r>
              <a:rPr sz="1200">
                <a:solidFill>
                  <a:srgbClr val="1E293B"/>
                </a:solidFill>
              </a:rPr>
              <a:t>•  http://localhost:3000 (Active Next.js 16 Web Application)</a:t>
            </a:r>
          </a:p>
          <a:p>
            <a:pPr>
              <a:spcBef>
                <a:spcPts val="1000"/>
              </a:spcBef>
            </a:pPr>
            <a:r>
              <a:rPr b="1" sz="1300">
                <a:solidFill>
                  <a:srgbClr val="4F46E5"/>
                </a:solidFill>
              </a:rPr>
              <a:t>Live Design System Showcase:
</a:t>
            </a:r>
            <a:r>
              <a:rPr sz="1200">
                <a:solidFill>
                  <a:srgbClr val="1E293B"/>
                </a:solidFill>
              </a:rPr>
              <a:t>•  http://localhost:3000/design-system (Component tokens, palettes, and micro-interactions)</a:t>
            </a:r>
          </a:p>
          <a:p>
            <a:pPr>
              <a:spcBef>
                <a:spcPts val="1000"/>
              </a:spcBef>
            </a:pPr>
            <a:r>
              <a:rPr b="1" sz="1300">
                <a:solidFill>
                  <a:srgbClr val="4F46E5"/>
                </a:solidFill>
              </a:rPr>
              <a:t>Official Academic Documentation:
</a:t>
            </a:r>
            <a:r>
              <a:rPr sz="1200">
                <a:solidFill>
                  <a:srgbClr val="1E293B"/>
                </a:solidFill>
              </a:rPr>
              <a:t>•  Fix_It_Marketplace_Thesis.docx (50-page Departmental Thesis)</a:t>
            </a:r>
          </a:p>
          <a:p>
            <a:pPr>
              <a:spcBef>
                <a:spcPts val="1000"/>
              </a:spcBef>
            </a:pPr>
            <a:r>
              <a:rPr b="1" sz="1300">
                <a:solidFill>
                  <a:srgbClr val="4F46E5"/>
                </a:solidFill>
              </a:rPr>
              <a:t>Live Demonstration Flow:
</a:t>
            </a:r>
            <a:r>
              <a:rPr sz="1200">
                <a:solidFill>
                  <a:srgbClr val="1E293B"/>
                </a:solidFill>
              </a:rPr>
              <a:t>•  Search -&gt; Select Artisan -&gt; Choose Tiered Package -&gt; Submit Booking -&gt; Track on Ledger -&gt; WhatsApp Dispatch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62895" cy="1371600"/>
          </a:xfrm>
          <a:prstGeom prst="rect">
            <a:avLst/>
          </a:prstGeom>
          <a:noFill/>
        </p:spPr>
        <p:txBody>
          <a:bodyPr wrap="none">
            <a:spAutoFit/>
          </a:bodyPr>
          <a:lstStyle/>
          <a:p>
            <a:pPr algn="ctr"/>
            <a:r>
              <a:rPr sz="3800" b="1">
                <a:solidFill>
                  <a:srgbClr val="FFFFFF"/>
                </a:solidFill>
                <a:latin typeface="Segoe UI"/>
              </a:rPr>
              <a:t>Thank You for Your Time &amp; Attention</a:t>
            </a:r>
          </a:p>
          <a:p>
            <a:pPr algn="ctr">
              <a:spcBef>
                <a:spcPts val="1000"/>
              </a:spcBef>
            </a:pPr>
            <a:r>
              <a:rPr sz="2200">
                <a:solidFill>
                  <a:srgbClr val="059669"/>
                </a:solidFill>
                <a:latin typeface="Segoe UI"/>
              </a:rPr>
              <a:t>Questions, Feedback &amp; Examination Discussion Welcomed</a:t>
            </a:r>
          </a:p>
        </p:txBody>
      </p:sp>
      <p:sp>
        <p:nvSpPr>
          <p:cNvPr id="4" name="Rounded Rectangle 3"/>
          <p:cNvSpPr/>
          <p:nvPr/>
        </p:nvSpPr>
        <p:spPr>
          <a:xfrm>
            <a:off x="1828800" y="3474720"/>
            <a:ext cx="8534095" cy="228600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103120" y="3657600"/>
            <a:ext cx="7985455" cy="1920240"/>
          </a:xfrm>
          <a:prstGeom prst="rect">
            <a:avLst/>
          </a:prstGeom>
          <a:noFill/>
        </p:spPr>
        <p:txBody>
          <a:bodyPr wrap="square">
            <a:spAutoFit/>
          </a:bodyPr>
          <a:lstStyle/>
          <a:p/>
          <a:p>
            <a:pPr>
              <a:spcBef>
                <a:spcPts val="400"/>
              </a:spcBef>
            </a:pPr>
            <a:r>
              <a:rPr b="1" sz="1200">
                <a:solidFill>
                  <a:srgbClr val="C7D2FE"/>
                </a:solidFill>
              </a:rPr>
              <a:t>Candidate: </a:t>
            </a:r>
            <a:r>
              <a:rPr sz="1200">
                <a:solidFill>
                  <a:srgbClr val="FFFFFF"/>
                </a:solidFill>
              </a:rPr>
              <a:t>Emmanuel Opoku Nyame (BSc. Computer Science, KNUST)</a:t>
            </a:r>
          </a:p>
          <a:p>
            <a:pPr>
              <a:spcBef>
                <a:spcPts val="400"/>
              </a:spcBef>
            </a:pPr>
            <a:r>
              <a:rPr b="1" sz="1200">
                <a:solidFill>
                  <a:srgbClr val="C7D2FE"/>
                </a:solidFill>
              </a:rPr>
              <a:t>Project: </a:t>
            </a:r>
            <a:r>
              <a:rPr sz="1200">
                <a:solidFill>
                  <a:srgbClr val="FFFFFF"/>
                </a:solidFill>
              </a:rPr>
              <a:t>Fix It Marketplace — Trust-Driven On-Demand Artisan Platform</a:t>
            </a:r>
          </a:p>
          <a:p>
            <a:pPr>
              <a:spcBef>
                <a:spcPts val="400"/>
              </a:spcBef>
            </a:pPr>
            <a:r>
              <a:rPr b="1" sz="1200">
                <a:solidFill>
                  <a:srgbClr val="C7D2FE"/>
                </a:solidFill>
              </a:rPr>
              <a:t>Supervisor: </a:t>
            </a:r>
            <a:r>
              <a:rPr sz="1200">
                <a:solidFill>
                  <a:srgbClr val="FFFFFF"/>
                </a:solidFill>
              </a:rPr>
              <a:t>Dr. K. A. Boateng | Head of Department: Prof. J. K. Panford</a:t>
            </a:r>
          </a:p>
          <a:p>
            <a:pPr>
              <a:spcBef>
                <a:spcPts val="400"/>
              </a:spcBef>
            </a:pPr>
            <a:r>
              <a:rPr b="1" sz="1200">
                <a:solidFill>
                  <a:srgbClr val="C7D2FE"/>
                </a:solidFill>
              </a:rPr>
              <a:t>Repository: </a:t>
            </a:r>
            <a:r>
              <a:rPr sz="1200">
                <a:solidFill>
                  <a:srgbClr val="FFFFFF"/>
                </a:solidFill>
              </a:rPr>
              <a:t>https://github.com/emperiumsoul/fix-it-marketplace</a:t>
            </a:r>
          </a:p>
          <a:p>
            <a:pPr>
              <a:spcBef>
                <a:spcPts val="400"/>
              </a:spcBef>
            </a:pPr>
            <a:r>
              <a:rPr b="1" sz="1200">
                <a:solidFill>
                  <a:srgbClr val="C7D2FE"/>
                </a:solidFill>
              </a:rPr>
              <a:t>Documentation: </a:t>
            </a:r>
            <a:r>
              <a:rPr sz="1200">
                <a:solidFill>
                  <a:srgbClr val="FFFFFF"/>
                </a:solidFill>
              </a:rPr>
              <a:t>Fix_It_Marketplace_Thesis.docx (50 Pages, Departmental Layout)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