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Segoe UI"/>
              </a:rPr>
              <a:t>DEPARTMENT OF COMPUTER SCIENCE | KNUST - KUMASI, GHANA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Development of a Trust-Driven Local On-Demand Artisan &amp; Service Marketplace for Ghana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7D2FE"/>
                </a:solidFill>
                <a:latin typeface="Segoe UI"/>
              </a:rPr>
              <a:t>BSc. Computer Science Senior Design Thesis Defense | Fix It Marketplace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36289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89204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Candidate: Emmanuel Opoku Nyame  (ID: 20220912)
</a:t>
            </a:r>
            <a:r>
              <a:rPr sz="1300">
                <a:solidFill>
                  <a:srgbClr val="94A3B8"/>
                </a:solidFill>
                <a:latin typeface="Segoe UI"/>
              </a:rPr>
              <a:t>Supervisor: Dr. K. A. Boateng | Head of Department: Prof. J. K. Panford |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I: CONTEXT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The Reality of Ghana's Informal Artisan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F46E5"/>
                </a:solidFill>
              </a:rPr>
              <a:t>&gt;72%
</a:t>
            </a:r>
            <a:r>
              <a:rPr sz="1400" b="1">
                <a:solidFill>
                  <a:srgbClr val="0F172A"/>
                </a:solidFill>
              </a:rPr>
              <a:t>Informal Workforce Share
</a:t>
            </a:r>
            <a:r>
              <a:rPr sz="1100">
                <a:solidFill>
                  <a:srgbClr val="64748B"/>
                </a:solidFill>
              </a:rPr>
              <a:t>Ghana Statistical Service (GSS) indicates informal trades represent the economic lifeblood of non-agricultural employment.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9669"/>
                </a:solidFill>
              </a:rPr>
              <a:t>Word of Mouth
</a:t>
            </a:r>
            <a:r>
              <a:rPr sz="1400" b="1">
                <a:solidFill>
                  <a:srgbClr val="0F172A"/>
                </a:solidFill>
              </a:rPr>
              <a:t>Conventional Sourcing Paradigm
</a:t>
            </a:r>
            <a:r>
              <a:rPr sz="1100">
                <a:solidFill>
                  <a:srgbClr val="64748B"/>
                </a:solidFill>
              </a:rPr>
              <a:t>Consumers rely on casual recommendations from neighbors and estate caretakers, lacking objective performance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F46E5"/>
                </a:solidFill>
              </a:rPr>
              <a:t>&gt;130%
</a:t>
            </a:r>
            <a:r>
              <a:rPr sz="1400" b="1">
                <a:solidFill>
                  <a:srgbClr val="0F172A"/>
                </a:solidFill>
              </a:rPr>
              <a:t>Mobile Voice &amp; Data Penetration
</a:t>
            </a:r>
            <a:r>
              <a:rPr sz="1100">
                <a:solidFill>
                  <a:srgbClr val="64748B"/>
                </a:solidFill>
              </a:rPr>
              <a:t>High smartphone and WhatsApp ubiquity in urban hubs (Accra, Kumasi) presents prime readiness for software formalization.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The Motivation: Transforming an Informal Sector Through Software Rigor
</a:t>
            </a:r>
          </a:p>
          <a:p>
            <a:r>
              <a:rPr sz="1300">
                <a:solidFill>
                  <a:srgbClr val="1E293B"/>
                </a:solidFill>
              </a:rPr>
              <a:t>•  Plumbing, electrical maintenance, appliance repairs, and masonry are critical to daily domestic safety, yet fraught with uncertainty.</a:t>
            </a:r>
          </a:p>
          <a:p>
            <a:r>
              <a:rPr sz="1300">
                <a:solidFill>
                  <a:srgbClr val="1E293B"/>
                </a:solidFill>
              </a:rPr>
              <a:t>•  Artisans possess strong vocational capabilities but lack digital storefronts, formal booking systems, and institutional credit markers.</a:t>
            </a:r>
          </a:p>
          <a:p>
            <a:r>
              <a:rPr sz="1300">
                <a:solidFill>
                  <a:srgbClr val="1E293B"/>
                </a:solidFill>
              </a:rPr>
              <a:t>•  Homeowners risk inflated material costs, unverified strangers in private residences, and zero recourse for abandoned projects.</a:t>
            </a:r>
          </a:p>
          <a:p>
            <a:r>
              <a:rPr sz="1300">
                <a:solidFill>
                  <a:srgbClr val="1E293B"/>
                </a:solidFill>
              </a:rPr>
              <a:t>•  Opportunity: Build a modern, accessible web platform that formalizes trade interactions while respecting local communication habits (WhatsApp).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I: 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Four Root Causes of Informal Market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1. Acute Information Asymmetry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Consumers have zero objective metrics to gauge artisan competence or fair market pricing prior to home arrival. Tradespeople arbitrarily set prices based on perceived client wealth.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9669"/>
                </a:solidFill>
              </a:rPr>
              <a:t>2. Moral Hazard &amp; Lack of Recourse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In the absence of a centralized reputation ledger, substandard craftsmanship carries no reputational penalty for transient artisans. Deposits are taken and jobs abandoned without audit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3. Security &amp; Safety Anxiety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Inviting unvetted strangers into private family residences poses severe personal safety risks. Conventional hiring lacks verified government ID backing or background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9669"/>
                </a:solidFill>
              </a:rPr>
              <a:t>4. Scheduling &amp; Coordination Friction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Unorganized voice calls lead to missed appointments, verbal miscommunications over scope, and payment friction due to absence of agreed written scope specifications.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I: SCOPE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Engineering Goals &amp; Guiding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</a:rPr>
              <a:t>Guiding Research Questions
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F46E5"/>
                </a:solidFill>
              </a:rPr>
              <a:t>RQ-1 (Performance Under Constraints): </a:t>
            </a:r>
            <a:r>
              <a:rPr sz="1200">
                <a:solidFill>
                  <a:srgbClr val="1E293B"/>
                </a:solidFill>
              </a:rPr>
              <a:t>How can an on-demand marketplace architecture achieve sub-1.5s latency and minimal data overhead under 3G/4G African mobile network conditions?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F46E5"/>
                </a:solidFill>
              </a:rPr>
              <a:t>RQ-2 (Bilateral Trust Architecture): </a:t>
            </a:r>
            <a:r>
              <a:rPr sz="1200">
                <a:solidFill>
                  <a:srgbClr val="1E293B"/>
                </a:solidFill>
              </a:rPr>
              <a:t>What identity protocols and reputation algorithms are required to establish quantifiable trust between domestic consumers and informal artisans?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F46E5"/>
                </a:solidFill>
              </a:rPr>
              <a:t>RQ-3 (Standardized Pricing Models): </a:t>
            </a:r>
            <a:r>
              <a:rPr sz="1200">
                <a:solidFill>
                  <a:srgbClr val="1E293B"/>
                </a:solidFill>
              </a:rPr>
              <a:t>Can multi-tier service packaging (Basic, Standard, Premium) effectively eliminate price haggling while respecting the variability of manual labor?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4F46E5"/>
                </a:solidFill>
              </a:rPr>
              <a:t>RQ-4 (Communication Localization): </a:t>
            </a:r>
            <a:r>
              <a:rPr sz="1200">
                <a:solidFill>
                  <a:srgbClr val="1E293B"/>
                </a:solidFill>
              </a:rPr>
              <a:t>Does integrating instant messaging bridges (WhatsApp deep-links) enhance booking compliance without undermining centralized platform accountability?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</a:rPr>
              <a:t>Primary Engineering Objectives
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1. Architectural Decoupling: Engineer a reactive multi-tier web application using Next.js 16 App Router, Clerk Auth, and Sanity Headless CMS.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2. Transparent Catalog &amp; Packaging: Design standardized 3-tier service packages (Basic, Standard, Premium) in Ghana Cedis (GHS).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3. Dual-Persona Role Gateway: Build secure role separation between domestic customers and verified service providers.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4. Hybrid Communication Bridge: Integrate automated booking lifecycle tracking with internationalized WhatsApp direct links (+233).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5. Order State Machine &amp; Reconciliation: Construct an active order ledger with instant cancellation reconciliation.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293B"/>
                </a:solidFill>
              </a:rPr>
              <a:t>6. Empirical Validation: Conduct Google Lighthouse performance benchmarking and a formal System Usability Scale (SUS)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II: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Theoretical Foundations Guiding 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Two-Sided Market Economics  </a:t>
            </a:r>
            <a:r>
              <a:rPr sz="1200" i="1">
                <a:solidFill>
                  <a:srgbClr val="64748B"/>
                </a:solidFill>
              </a:rPr>
              <a:t>— Rochet &amp; Tirole (2003) / Armstrong (2006)
</a:t>
            </a:r>
          </a:p>
          <a:p>
            <a:r>
              <a:rPr sz="1150">
                <a:solidFill>
                  <a:srgbClr val="1E293B"/>
                </a:solidFill>
              </a:rPr>
              <a:t>Platforms create economic surplus by intermediating buyers and sellers with indirect network externalities. Addressed the 'chicken-and-egg' dilemma by providing zero-barrier artisan self-onboarding and transparent customer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Information Asymmetry &amp; Lemons  </a:t>
            </a:r>
            <a:r>
              <a:rPr sz="1200" i="1">
                <a:solidFill>
                  <a:srgbClr val="64748B"/>
                </a:solidFill>
              </a:rPr>
              <a:t>— George Akerlof (1970)
</a:t>
            </a:r>
          </a:p>
          <a:p>
            <a:r>
              <a:rPr sz="1150">
                <a:solidFill>
                  <a:srgbClr val="1E293B"/>
                </a:solidFill>
              </a:rPr>
              <a:t>Quality uncertainty causes adverse selection, driving skilled artisans out of the market as low-quality providers underbid. Fix It solves this by replacing quality ambiguity with verifiable digital reputation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Signaling Theory in Digital Labor  </a:t>
            </a:r>
            <a:r>
              <a:rPr sz="1200" i="1">
                <a:solidFill>
                  <a:srgbClr val="64748B"/>
                </a:solidFill>
              </a:rPr>
              <a:t>— Michael Spence (1973)
</a:t>
            </a:r>
          </a:p>
          <a:p>
            <a:r>
              <a:rPr sz="1150">
                <a:solidFill>
                  <a:srgbClr val="1E293B"/>
                </a:solidFill>
              </a:rPr>
              <a:t>High-quality providers must emit costly, verifiable signals that low-quality imitators cannot easily replicate. Operationalized through Clerk identity vetting, trade licensing badges, and authentic client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Technology Acceptance Model (TAM)  </a:t>
            </a:r>
            <a:r>
              <a:rPr sz="1200" i="1">
                <a:solidFill>
                  <a:srgbClr val="64748B"/>
                </a:solidFill>
              </a:rPr>
              <a:t>— Fred Davis (1989)
</a:t>
            </a:r>
          </a:p>
          <a:p>
            <a:r>
              <a:rPr sz="1150">
                <a:solidFill>
                  <a:srgbClr val="1E293B"/>
                </a:solidFill>
              </a:rPr>
              <a:t>Adoption in emerging markets depends heavily on Perceived Ease of Use (PEOU) and Cultural Familiarity. Combining web automation with ubiquitous WhatsApp messaging satisfies Ghanaian consumer habits.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II: INDUSTRY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Competitive Analysis: Global vs. Regional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0312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Target Market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Pricing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Trust &amp; Verification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Communication Bridge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TaskRabbit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North America / 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Hourly rates (USD)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Credit checks, formal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In-app proprietary chat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Urban 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India / UAE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Fixed standardized tiers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Comprehensive technical audits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Telephony call masking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Jiji Ghana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Ghana / Nigeria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Unregulated classifieds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Basic SMS token (High fraud risk)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Direct unregulated phone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Lynk (Defunct)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Kenya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Job commission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Trade test audits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Segoe UI"/>
                        </a:rPr>
                        <a:t>Manual call center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F46E5"/>
                          </a:solidFill>
                          <a:latin typeface="Segoe UI"/>
                        </a:rPr>
                        <a:t>Fix it Marketplace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Ghana (Accra/Kumasi)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Standardized 3-tier GHS packages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Clerk JWT, admin badge, reviews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Centralized web ledger + WhatsApp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Key Takeaway: Fix It eliminates Western credit assumptions while closing the accountability vacuum of unregulated classifieds.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III: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Decoupled Multi-Tier Cloud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Architectural Layers &amp; Operational Roles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Presentation Layer (Next.js 16 + React 19): </a:t>
            </a:r>
            <a:r>
              <a:rPr sz="1100">
                <a:solidFill>
                  <a:srgbClr val="1E293B"/>
                </a:solidFill>
              </a:rPr>
              <a:t>Renders Server Components with zero client-side bundle bloat. Tailwind CSS ensures responsive, mobile-first utility styling.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Edge Routing &amp; Security (Clerk v7): </a:t>
            </a:r>
            <a:r>
              <a:rPr sz="1100">
                <a:solidFill>
                  <a:srgbClr val="1E293B"/>
                </a:solidFill>
              </a:rPr>
              <a:t>Intercepts requests at the network edge, validating JWT session tokens and enforcing Role-Based Access Control (Customer vs. Provider).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Headless Content Lake (Sanity CMS + GROQ): </a:t>
            </a:r>
            <a:r>
              <a:rPr sz="1100">
                <a:solidFill>
                  <a:srgbClr val="1E293B"/>
                </a:solidFill>
              </a:rPr>
              <a:t>Houses flexible catalog schemas (services, categories, providers, images). Optimized GROQ queries prevent payload over-fetching.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Transactional Database (Neon PostgreSQL): </a:t>
            </a:r>
            <a:r>
              <a:rPr sz="1100">
                <a:solidFill>
                  <a:srgbClr val="1E293B"/>
                </a:solidFill>
              </a:rPr>
              <a:t>Guarantees ACID transactional compliance for bookings, status transitions, and client cancellation audit logs.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Real-Time WhatsApp Dispatch Engine: </a:t>
            </a:r>
            <a:r>
              <a:rPr sz="1100">
                <a:solidFill>
                  <a:srgbClr val="1E293B"/>
                </a:solidFill>
              </a:rPr>
              <a:t>Normalizes telephone numbers into Ghanaian international format (+233) and generates pre-filled URI context bridges.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9669"/>
                </a:solidFill>
              </a:rPr>
              <a:t>Decoupled Data Flow Topology
</a:t>
            </a:r>
            <a:r>
              <a:rPr sz="1050">
                <a:solidFill>
                  <a:srgbClr val="FFFFFF"/>
                </a:solidFill>
                <a:latin typeface="Courier New"/>
              </a:rPr>
              <a:t>[Client Device (Mobile / Desktop)]
             | (HTTPS / TLS 1.3)
             v
[Edge Router &amp; Clerk Middleware]
       /                    \
 (Read Queries)       (Transactional Mutations)
     v                          v
[Sanity Content Lake]     [Neon PostgreSQL]
 - Services Catalog        - Bookings Ledger
 - Categories Directory    - State Transitions
 - Provider Badges         - Audit Logs
       \                    /
        +---------+--------+
                  v
[WhatsApp Universal Deep-Link (+233)]
 -&gt; Real-Time Artisan Customer 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III: UI/UX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Fix-It Design System: Tokens, Components &amp;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Design Tokens &amp; Visual Standards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Curated Palette: </a:t>
            </a:r>
            <a:r>
              <a:rPr sz="1100">
                <a:solidFill>
                  <a:srgbClr val="1E293B"/>
                </a:solidFill>
              </a:rPr>
              <a:t>Deep Indigo (#1E1B4B) represents authority and stability; Emerald Green (#059669) signifies verified trust; Neutral Slate for legible text.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Glassmorphism &amp; Elevation: </a:t>
            </a:r>
            <a:r>
              <a:rPr sz="1100">
                <a:solidFill>
                  <a:srgbClr val="1E293B"/>
                </a:solidFill>
              </a:rPr>
              <a:t>Subtle backdrop-filter blurs, micro-borders, and tailored shadows produce a state-of-the-art modern interface.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WCAG 2.1 AA Compliance: </a:t>
            </a:r>
            <a:r>
              <a:rPr sz="1100">
                <a:solidFill>
                  <a:srgbClr val="1E293B"/>
                </a:solidFill>
              </a:rPr>
              <a:t>Strict 4.5:1 text-to-background contrast ratios, full keyboard focus rings, and screen-reader accessible ARIA tags.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Live Interactive Route: </a:t>
            </a:r>
            <a:r>
              <a:rPr sz="1100">
                <a:solidFill>
                  <a:srgbClr val="1E293B"/>
                </a:solidFill>
              </a:rPr>
              <a:t>Accessible live at `/design-system` for rapid component prototyping and consistent design token inheritance.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figure_3_2_desig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59436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5897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64748B"/>
                </a:solidFill>
              </a:rPr>
              <a:t>Figure 3-2: Live Fix-It Design System &amp; Interactive Tokens (/design-system)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IMPLEMENTATION &amp;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Customer Discovery: Live Marketplace &amp; Faceted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Catalog Architecture Highlights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Multi-Category Exploration: </a:t>
            </a:r>
            <a:r>
              <a:rPr sz="1100">
                <a:solidFill>
                  <a:srgbClr val="1E293B"/>
                </a:solidFill>
              </a:rPr>
              <a:t>Browse plumbing, electrical, carpentry, moving, pop ceiling, masonry, and painting with instant filtering.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Real-Time Debounced Search: </a:t>
            </a:r>
            <a:r>
              <a:rPr sz="1100">
                <a:solidFill>
                  <a:srgbClr val="1E293B"/>
                </a:solidFill>
              </a:rPr>
              <a:t>Search input debouncing (300ms) minimizes server hits while providing responsive autocomplete querying.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Verified Provider Badges: </a:t>
            </a:r>
            <a:r>
              <a:rPr sz="1100">
                <a:solidFill>
                  <a:srgbClr val="1E293B"/>
                </a:solidFill>
              </a:rPr>
              <a:t>Artisans with validated credentials display trust badges directly on listing cards to guide consumer decisions.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Responsive Layout: </a:t>
            </a:r>
            <a:r>
              <a:rPr sz="1100">
                <a:solidFill>
                  <a:srgbClr val="1E293B"/>
                </a:solidFill>
              </a:rPr>
              <a:t>Adaptive CSS Grid reflows gracefully across mobile viewports, tablets, and wide desktop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figure_4_1_homepag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59436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5897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64748B"/>
                </a:solidFill>
              </a:rPr>
              <a:t>Figure 4-1: Live Marketplace Homepage &amp; Catalog Discovery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Dual-Persona Onboarding Gateway &amp; Customer Welcome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ve_figure_4_2_persona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8463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4F46E5"/>
                </a:solidFill>
              </a:rPr>
              <a:t>Figure 4-2: Dual-Persona Onboarding Gateway
</a:t>
            </a:r>
            <a:r>
              <a:rPr sz="1100">
                <a:solidFill>
                  <a:srgbClr val="1E293B"/>
                </a:solidFill>
              </a:rPr>
              <a:t>Forces an explicit role choice on first sign-in: Customer vs. Service Provider. Synchronizes role metadata to Clerk JWT for edge access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figure_4_3_personalized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59669"/>
                </a:solidFill>
              </a:rPr>
              <a:t>Figure 4-3: Personalized Client Welcome Hub
</a:t>
            </a:r>
            <a:r>
              <a:rPr sz="1100">
                <a:solidFill>
                  <a:srgbClr val="1E293B"/>
                </a:solidFill>
              </a:rPr>
              <a:t>Surfaces personalized greetings, contextual booking shortcuts, active booking counters, and recommended trade chips for rapid re-engagement.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Transparent 3-Tier Service Packages &amp; Price Guarantees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Eliminating Arbitrary Price Haggling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Three Standardized Tiers: </a:t>
            </a:r>
            <a:r>
              <a:rPr sz="1100">
                <a:solidFill>
                  <a:srgbClr val="1E293B"/>
                </a:solidFill>
              </a:rPr>
              <a:t>Basic (Minor diagnosis/repair), Standard (Comprehensive servicing), and Premium (Full-scale installation).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Explicit Work Inclusions: </a:t>
            </a:r>
            <a:r>
              <a:rPr sz="1100">
                <a:solidFill>
                  <a:srgbClr val="1E293B"/>
                </a:solidFill>
              </a:rPr>
              <a:t>Clearly delineates tasks covered by the quoted price (e.g. disassembly, blanket wrapping, transit).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Transparent Exclusions: </a:t>
            </a:r>
            <a:r>
              <a:rPr sz="1100">
                <a:solidFill>
                  <a:srgbClr val="1E293B"/>
                </a:solidFill>
              </a:rPr>
              <a:t>Prevents scope creep and unexpected billing disputes by explicitly noting items requiring separate material procurement.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Ghana Cedi (GHS) Currency: </a:t>
            </a:r>
            <a:r>
              <a:rPr sz="1100">
                <a:solidFill>
                  <a:srgbClr val="1E293B"/>
                </a:solidFill>
              </a:rPr>
              <a:t>Standardized in local currency, building immediate market trust and commercial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figure_4_4_service_detail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59436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5897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64748B"/>
                </a:solidFill>
              </a:rPr>
              <a:t>Figure 4-4: Tiered Service Scope &amp; Pricing Package Selection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CORE OPERATIONAL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Order Lifecycle Ledger &amp; Real-Time WhatsApp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Order Lifecycle &amp; Direct Action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State Machine Governance: </a:t>
            </a:r>
            <a:r>
              <a:rPr sz="1100">
                <a:solidFill>
                  <a:srgbClr val="1E293B"/>
                </a:solidFill>
              </a:rPr>
              <a:t>Tracks state transitions: Pending -&gt; Confirmed -&gt; In Progress -&gt; Completed / Cancelled.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Instant Cancellation Reconciliation: </a:t>
            </a:r>
            <a:r>
              <a:rPr sz="1100">
                <a:solidFill>
                  <a:srgbClr val="1E293B"/>
                </a:solidFill>
              </a:rPr>
              <a:t>React 19 optimistic UI hooks instantly remove cancelled bookings from the active list without full page refreshes.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Internationalized Phone Normalization: </a:t>
            </a:r>
            <a:r>
              <a:rPr sz="1100">
                <a:solidFill>
                  <a:srgbClr val="1E293B"/>
                </a:solidFill>
              </a:rPr>
              <a:t>Automatically strips leading zeros and prepends Ghana's country code (`+233`) to format valid international numbers.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One-Click WhatsApp Action: </a:t>
            </a:r>
            <a:r>
              <a:rPr sz="1100">
                <a:solidFill>
                  <a:srgbClr val="1E293B"/>
                </a:solidFill>
              </a:rPr>
              <a:t>Generates URI-encoded deep links (`wa.me/233...`) pre-populated with service title, date, and customer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figure_4_5_client_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594360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58978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64748B"/>
                </a:solidFill>
              </a:rPr>
              <a:t>Figure 4-5: Customer Bookings Management Ledger with Direct WhatsApp 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PROVIDER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Artisan Onboarding Builder &amp; Operational Orders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ve_figure_4_6_provider_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8463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4F46E5"/>
                </a:solidFill>
              </a:rPr>
              <a:t>Figure 4-6: Multi-Step Artisan Profile Onboarding
</a:t>
            </a:r>
            <a:r>
              <a:rPr sz="1100">
                <a:solidFill>
                  <a:srgbClr val="1E293B"/>
                </a:solidFill>
              </a:rPr>
              <a:t>Enables tradespeople to build their digital storefront: input business details, select primary trade categories, declare service areas, and submit verification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figure_4_7_provid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59669"/>
                </a:solidFill>
              </a:rPr>
              <a:t>Figure 4-7: Operational Orders &amp; Dispatch Dashboard
</a:t>
            </a:r>
            <a:r>
              <a:rPr sz="1100">
                <a:solidFill>
                  <a:srgbClr val="1E293B"/>
                </a:solidFill>
              </a:rPr>
              <a:t>Artisans manage incoming booking requests, toggle job status in real time, review customer delivery addresses, and initiate customer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IV: VERIFICATION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Multi-Tier Testing Matrix &amp; 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28016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Scope of Validation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GROQ queries, phone normalization, price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Integration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Clerk webhooks, metadata role sync, DB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E2E 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Onboarding, search, booking, and 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Cross-Browser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Chrome, Edge, Safari, Firefox,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3B"/>
                          </a:solidFill>
                        </a:rPr>
                        <a:t>WCAG 2.1 AA Checklist, focus traps, 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100%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OWASP Top 10 Security Hardening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Injection Mitigation: </a:t>
            </a:r>
            <a:r>
              <a:rPr sz="1100">
                <a:solidFill>
                  <a:srgbClr val="1E293B"/>
                </a:solidFill>
              </a:rPr>
              <a:t>All GROQ and SQL queries are strictly parameterized; zero dynamic string concatenation.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Cross-Site Scripting (XSS): </a:t>
            </a:r>
            <a:r>
              <a:rPr sz="1100">
                <a:solidFill>
                  <a:srgbClr val="1E293B"/>
                </a:solidFill>
              </a:rPr>
              <a:t>React’s automatic JSX encoding combined with strict Content Security Policy (CSP) headers.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CSRF Neutralization: </a:t>
            </a:r>
            <a:r>
              <a:rPr sz="1100">
                <a:solidFill>
                  <a:srgbClr val="1E293B"/>
                </a:solidFill>
              </a:rPr>
              <a:t>SameSite=Lax HTTP-only session cookies and cryptographic HMAC webhook verification (`svix`).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4F46E5"/>
                </a:solidFill>
              </a:rPr>
              <a:t>Role Authorization (RBAC): </a:t>
            </a:r>
            <a:r>
              <a:rPr sz="1100">
                <a:solidFill>
                  <a:srgbClr val="1E293B"/>
                </a:solidFill>
              </a:rPr>
              <a:t>Server-side middleware validates Clerk role claims, preventing customer access to artisan admin routes.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V: 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Production Performance Telemetry &amp; Core Web Vitals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9669"/>
                </a:solidFill>
              </a:rPr>
              <a:t>98 / 100
</a:t>
            </a:r>
            <a:r>
              <a:rPr sz="1200" b="1">
                <a:solidFill>
                  <a:srgbClr val="0F172A"/>
                </a:solidFill>
              </a:rPr>
              <a:t>Google Lighthouse
</a:t>
            </a:r>
            <a:r>
              <a:rPr sz="1000">
                <a:solidFill>
                  <a:srgbClr val="64748B"/>
                </a:solidFill>
              </a:rPr>
              <a:t>Performance score evaluated on production production builds.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9669"/>
                </a:solidFill>
              </a:rPr>
              <a:t>0.72 sec
</a:t>
            </a:r>
            <a:r>
              <a:rPr sz="1200" b="1">
                <a:solidFill>
                  <a:srgbClr val="0F172A"/>
                </a:solidFill>
              </a:rPr>
              <a:t>Largest Contentful Paint
</a:t>
            </a:r>
            <a:r>
              <a:rPr sz="1000">
                <a:solidFill>
                  <a:srgbClr val="64748B"/>
                </a:solidFill>
              </a:rPr>
              <a:t>Sub-1-second LCP on high-speed fiber (Good threshold &lt; 2.5s).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9669"/>
                </a:solidFill>
              </a:rPr>
              <a:t>1.18 sec
</a:t>
            </a:r>
            <a:r>
              <a:rPr sz="1200" b="1">
                <a:solidFill>
                  <a:srgbClr val="0F172A"/>
                </a:solidFill>
              </a:rPr>
              <a:t>Simulated 4G Mobile LCP
</a:t>
            </a:r>
            <a:r>
              <a:rPr sz="1000">
                <a:solidFill>
                  <a:srgbClr val="64748B"/>
                </a:solidFill>
              </a:rPr>
              <a:t>Fast visual delivery over simulated Ghana cellular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59669"/>
                </a:solidFill>
              </a:rPr>
              <a:t>0.000
</a:t>
            </a:r>
            <a:r>
              <a:rPr sz="1200" b="1">
                <a:solidFill>
                  <a:srgbClr val="0F172A"/>
                </a:solidFill>
              </a:rPr>
              <a:t>Cumulative Layout Shift
</a:t>
            </a:r>
            <a:r>
              <a:rPr sz="1000">
                <a:solidFill>
                  <a:srgbClr val="64748B"/>
                </a:solidFill>
              </a:rPr>
              <a:t>Zero unexpected visual movement during image and font hydration.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High-Concurrency Stress Testing Results (k6 Load Test Suite)
</a:t>
            </a:r>
          </a:p>
          <a:p>
            <a:r>
              <a:rPr sz="1200">
                <a:solidFill>
                  <a:srgbClr val="1E293B"/>
                </a:solidFill>
              </a:rPr>
              <a:t>•  Tested scaling from 10 to 500 concurrent virtual users executing mixed catalog searches and booking submissions.</a:t>
            </a:r>
          </a:p>
          <a:p>
            <a:r>
              <a:rPr sz="1200">
                <a:solidFill>
                  <a:srgbClr val="1E293B"/>
                </a:solidFill>
              </a:rPr>
              <a:t>•  95th-Percentile (p95) Latency: Remained exceptionally stable at 410 ms across sustained ten-minute evaluation windows.</a:t>
            </a:r>
          </a:p>
          <a:p>
            <a:r>
              <a:rPr sz="1200">
                <a:solidFill>
                  <a:srgbClr val="1E293B"/>
                </a:solidFill>
              </a:rPr>
              <a:t>•  Zero HTTP 5xx Server Errors: Serverless PostgreSQL connection pooling dynamically scaled without connection exhaustion.</a:t>
            </a:r>
          </a:p>
          <a:p>
            <a:r>
              <a:rPr sz="1200">
                <a:solidFill>
                  <a:srgbClr val="1E293B"/>
                </a:solidFill>
              </a:rPr>
              <a:t>•  Architecture Validation: Proves that Next.js Server Components paired with headless Sanity caching comfortably handles peak traffic spikes.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V: EMPIRICAL USABILITY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System Usability Scale (SUS) Evaluation (N = 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059669"/>
                </a:solidFill>
              </a:rPr>
              <a:t>86.4
</a:t>
            </a:r>
            <a:r>
              <a:rPr sz="1800" b="1">
                <a:solidFill>
                  <a:srgbClr val="FFFFFF"/>
                </a:solidFill>
              </a:rPr>
              <a:t>Mean SUS Score
(Grade A / Excellent)
</a:t>
            </a:r>
            <a:r>
              <a:rPr sz="1150">
                <a:solidFill>
                  <a:srgbClr val="CBD5E1"/>
                </a:solidFill>
              </a:rPr>
              <a:t>Historical industry benchmark average is 68.0. A score of 86.4 places Fix it Marketplace in the top 10th percentile of evaluated digital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463040"/>
            <a:ext cx="6583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6459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Empirical Participant Breakdown &amp; Findings
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4F46E5"/>
                </a:solidFill>
              </a:rPr>
              <a:t>Domestic Consumers (N = 15): </a:t>
            </a:r>
            <a:r>
              <a:rPr sz="1100">
                <a:solidFill>
                  <a:srgbClr val="1E293B"/>
                </a:solidFill>
              </a:rPr>
              <a:t>Achieved an outstanding mean score of 88.5 / 100 (SD = 4.2). Participants highlighted pricing transparency as eliminating stressful verbal negotiations.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4F46E5"/>
                </a:solidFill>
              </a:rPr>
              <a:t>Independent Artisans (N = 15): </a:t>
            </a:r>
            <a:r>
              <a:rPr sz="1100">
                <a:solidFill>
                  <a:srgbClr val="1E293B"/>
                </a:solidFill>
              </a:rPr>
              <a:t>Achieved an excellent mean score of 84.3 / 100 (SD = 5.8). Tradespeople praised the ease of profile building and direct WhatsApp coordination.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4F46E5"/>
                </a:solidFill>
              </a:rPr>
              <a:t>Qualitative Theme 1 (Haggling Relief): </a:t>
            </a:r>
            <a:r>
              <a:rPr sz="1100">
                <a:solidFill>
                  <a:srgbClr val="1E293B"/>
                </a:solidFill>
              </a:rPr>
              <a:t>Fixed package pricing eliminated adversarial confrontations over material costs and labor estimates.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4F46E5"/>
                </a:solidFill>
              </a:rPr>
              <a:t>Qualitative Theme 2 (Channel Familiarity): </a:t>
            </a:r>
            <a:r>
              <a:rPr sz="1100">
                <a:solidFill>
                  <a:srgbClr val="1E293B"/>
                </a:solidFill>
              </a:rPr>
              <a:t>WhatsApp direct links lowered cognitive barriers; artisans utilized voice notes to clarify job details easily.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4F46E5"/>
                </a:solidFill>
              </a:rPr>
              <a:t>Qualitative Theme 3 (Professional Dignity): </a:t>
            </a:r>
            <a:r>
              <a:rPr sz="1100">
                <a:solidFill>
                  <a:srgbClr val="1E293B"/>
                </a:solidFill>
              </a:rPr>
              <a:t>Artisans reported that verified profile badges significantly elevated their perceived professional status.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V: 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System Limitations &amp; Strategic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Identified Technical &amp; Operational Limitations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11D48"/>
                </a:solidFill>
              </a:rPr>
              <a:t>External Network Reliance: </a:t>
            </a:r>
            <a:r>
              <a:rPr sz="1100">
                <a:solidFill>
                  <a:srgbClr val="1E293B"/>
                </a:solidFill>
              </a:rPr>
              <a:t>System relies on real-time internet access for Clerk authentication and Sanity CMS API queries; degraded offline mode needed during complete cell blackouts.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11D48"/>
                </a:solidFill>
              </a:rPr>
              <a:t>Manual Escrow Settlement: </a:t>
            </a:r>
            <a:r>
              <a:rPr sz="1100">
                <a:solidFill>
                  <a:srgbClr val="1E293B"/>
                </a:solidFill>
              </a:rPr>
              <a:t>Direct automated payment gateway split disbursements (Paystack / Mobile Money API) were delimited from this initial release.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11D48"/>
                </a:solidFill>
              </a:rPr>
              <a:t>Absence of Device Geofencing: </a:t>
            </a:r>
            <a:r>
              <a:rPr sz="1100">
                <a:solidFill>
                  <a:srgbClr val="1E293B"/>
                </a:solidFill>
              </a:rPr>
              <a:t>Requires consumers to select or type municipal addresses manually rather than automated GPS boundary detection.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11D48"/>
                </a:solidFill>
              </a:rPr>
              <a:t>Cold-Start Provider Density: </a:t>
            </a:r>
            <a:r>
              <a:rPr sz="1100">
                <a:solidFill>
                  <a:srgbClr val="1E293B"/>
                </a:solidFill>
              </a:rPr>
              <a:t>Artisan density is initially clustered within Greater Accra and Kumasi metropolitan areas.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Strategic Engineering Roadmap
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Mobile Money Escrow Integration: </a:t>
            </a:r>
            <a:r>
              <a:rPr sz="1100">
                <a:solidFill>
                  <a:srgbClr val="1E293B"/>
                </a:solidFill>
              </a:rPr>
              <a:t>Integrate automated Paystack / MTN MoMo escrow withholding funds until digital client job completion sign-off.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Progressive Web App (PWA) Offline Cache: </a:t>
            </a:r>
            <a:r>
              <a:rPr sz="1100">
                <a:solidFill>
                  <a:srgbClr val="1E293B"/>
                </a:solidFill>
              </a:rPr>
              <a:t>Implement service workers for offline booking draft persistence during mobile connectivity drops.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Automated Geospatial Routing: </a:t>
            </a:r>
            <a:r>
              <a:rPr sz="1100">
                <a:solidFill>
                  <a:srgbClr val="1E293B"/>
                </a:solidFill>
              </a:rPr>
              <a:t>Integrate Google Maps Distance Matrix API for real-time turn-by-turn proximity dispatch and ETA calculation.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TVET Institutional Accreditation: </a:t>
            </a:r>
            <a:r>
              <a:rPr sz="1100">
                <a:solidFill>
                  <a:srgbClr val="1E293B"/>
                </a:solidFill>
              </a:rPr>
              <a:t>Partner with the Commission for TVET and NVTI to embed cryptographically signed digital trade certificates.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CHAPTER V: DEFENSE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Segoe UI"/>
              </a:rPr>
              <a:t>Core Academic &amp; Societal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Academic &amp; Architectural Contribution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Validated a repeatable software blueprint demonstrating how decoupled Jamstack architectures (Next.js Server Components + Headless CMS) successfully overcome cellular bandwidth and latency barriers in developing African markets.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Economic &amp; Socio-Technical Impact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Empowered informal tradespeople with verifiable digital reputation capital, transparent 3-tier service pricing (GHS), and market visibility, directly aligning with UN Sustainable Development Goal 8 (Decent Work &amp; Economic Growth).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Cultural Usability Alignment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</a:rPr>
              <a:t>Demonstrated that technology adoption succeeds not by imposing rigid foreign booking paradigms, but by harmonizing centralized database accountability with localized communication channels (WhatsApp deep-links).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Thank You for Your Time &amp; Attention</a:t>
            </a:r>
          </a:p>
          <a:p>
            <a:pPr algn="ctr">
              <a:spcBef>
                <a:spcPts val="1000"/>
              </a:spcBef>
            </a:pPr>
            <a:r>
              <a:rPr sz="2200">
                <a:solidFill>
                  <a:srgbClr val="059669"/>
                </a:solidFill>
                <a:latin typeface="Segoe UI"/>
              </a:rPr>
              <a:t>Questions, Feedback &amp; Discussion Welcomed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474720"/>
            <a:ext cx="853409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657600"/>
            <a:ext cx="79854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</a:pPr>
            <a:r>
              <a:rPr b="1" sz="1200">
                <a:solidFill>
                  <a:srgbClr val="C7D2FE"/>
                </a:solidFill>
              </a:rPr>
              <a:t>Candidate: </a:t>
            </a:r>
            <a:r>
              <a:rPr sz="1200">
                <a:solidFill>
                  <a:srgbClr val="FFFFFF"/>
                </a:solidFill>
              </a:rPr>
              <a:t>Emmanuel Opoku Nyame (BSc. Computer Science, KNUST)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C7D2FE"/>
                </a:solidFill>
              </a:rPr>
              <a:t>Project Title: </a:t>
            </a:r>
            <a:r>
              <a:rPr sz="1200">
                <a:solidFill>
                  <a:srgbClr val="FFFFFF"/>
                </a:solidFill>
              </a:rPr>
              <a:t>Fix It Marketplace — On-Demand Artisan Platform for Ghana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C7D2FE"/>
                </a:solidFill>
              </a:rPr>
              <a:t>GitHub Repository: </a:t>
            </a:r>
            <a:r>
              <a:rPr sz="1200">
                <a:solidFill>
                  <a:srgbClr val="FFFFFF"/>
                </a:solidFill>
              </a:rPr>
              <a:t>https://github.com/emperiumsoul/fix-it-marketplace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C7D2FE"/>
                </a:solidFill>
              </a:rPr>
              <a:t>Live Web Application: </a:t>
            </a:r>
            <a:r>
              <a:rPr sz="1200">
                <a:solidFill>
                  <a:srgbClr val="FFFFFF"/>
                </a:solidFill>
              </a:rPr>
              <a:t>http://localhost:3000 (Development Environment)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C7D2FE"/>
                </a:solidFill>
              </a:rPr>
              <a:t>Academic Documentation: </a:t>
            </a:r>
            <a:r>
              <a:rPr sz="1200">
                <a:solidFill>
                  <a:srgbClr val="FFFFFF"/>
                </a:solidFill>
              </a:rPr>
              <a:t>Fix_It_Marketplace_Thesis.docx (50-Page Departmental Thesis)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